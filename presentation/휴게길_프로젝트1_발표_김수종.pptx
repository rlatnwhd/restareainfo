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6E605E-E8C8-41C9-B2DC-ADEE2D466992}" v="3" dt="2026-10-29T09:14:13.3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3" d="100"/>
          <a:sy n="83" d="100"/>
        </p:scale>
        <p:origin x="408" y="5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김수종" userId="73fcd19f-aa2f-44d4-bb03-678112fa212f" providerId="ADAL" clId="{40C1ED9D-FDD3-4ED6-9E9C-1DE19B4492EC}"/>
    <pc:docChg chg="undo custSel delSld modSld sldOrd">
      <pc:chgData name="김수종" userId="73fcd19f-aa2f-44d4-bb03-678112fa212f" providerId="ADAL" clId="{40C1ED9D-FDD3-4ED6-9E9C-1DE19B4492EC}" dt="2026-10-29T09:18:29.063" v="74" actId="2696"/>
      <pc:docMkLst>
        <pc:docMk/>
      </pc:docMkLst>
      <pc:sldChg chg="delSp modSp mod modNotesTx">
        <pc:chgData name="김수종" userId="73fcd19f-aa2f-44d4-bb03-678112fa212f" providerId="ADAL" clId="{40C1ED9D-FDD3-4ED6-9E9C-1DE19B4492EC}" dt="2026-10-29T09:15:21.606" v="69" actId="20577"/>
        <pc:sldMkLst>
          <pc:docMk/>
          <pc:sldMk cId="0" sldId="256"/>
        </pc:sldMkLst>
        <pc:spChg chg="mod">
          <ac:chgData name="김수종" userId="73fcd19f-aa2f-44d4-bb03-678112fa212f" providerId="ADAL" clId="{40C1ED9D-FDD3-4ED6-9E9C-1DE19B4492EC}" dt="2026-10-29T09:13:26.175" v="44" actId="1076"/>
          <ac:spMkLst>
            <pc:docMk/>
            <pc:sldMk cId="0" sldId="256"/>
            <ac:spMk id="9" creationId="{00000000-0000-0000-0000-000000000000}"/>
          </ac:spMkLst>
        </pc:spChg>
        <pc:spChg chg="mod">
          <ac:chgData name="김수종" userId="73fcd19f-aa2f-44d4-bb03-678112fa212f" providerId="ADAL" clId="{40C1ED9D-FDD3-4ED6-9E9C-1DE19B4492EC}" dt="2026-10-29T09:13:44.697" v="52" actId="20577"/>
          <ac:spMkLst>
            <pc:docMk/>
            <pc:sldMk cId="0" sldId="256"/>
            <ac:spMk id="10" creationId="{00000000-0000-0000-0000-000000000000}"/>
          </ac:spMkLst>
        </pc:spChg>
        <pc:picChg chg="mod">
          <ac:chgData name="김수종" userId="73fcd19f-aa2f-44d4-bb03-678112fa212f" providerId="ADAL" clId="{40C1ED9D-FDD3-4ED6-9E9C-1DE19B4492EC}" dt="2026-10-29T09:13:23.766" v="43" actId="1076"/>
          <ac:picMkLst>
            <pc:docMk/>
            <pc:sldMk cId="0" sldId="256"/>
            <ac:picMk id="8" creationId="{00000000-0000-0000-0000-000000000000}"/>
          </ac:picMkLst>
        </pc:picChg>
        <pc:picChg chg="del">
          <ac:chgData name="김수종" userId="73fcd19f-aa2f-44d4-bb03-678112fa212f" providerId="ADAL" clId="{40C1ED9D-FDD3-4ED6-9E9C-1DE19B4492EC}" dt="2026-10-29T09:13:06.731" v="40" actId="478"/>
          <ac:picMkLst>
            <pc:docMk/>
            <pc:sldMk cId="0" sldId="256"/>
            <ac:picMk id="11" creationId="{00000000-0000-0000-0000-000000000000}"/>
          </ac:picMkLst>
        </pc:picChg>
      </pc:sldChg>
      <pc:sldChg chg="modNotesTx">
        <pc:chgData name="김수종" userId="73fcd19f-aa2f-44d4-bb03-678112fa212f" providerId="ADAL" clId="{40C1ED9D-FDD3-4ED6-9E9C-1DE19B4492EC}" dt="2026-10-29T09:15:24.644" v="71" actId="20577"/>
        <pc:sldMkLst>
          <pc:docMk/>
          <pc:sldMk cId="0" sldId="257"/>
        </pc:sldMkLst>
      </pc:sldChg>
      <pc:sldChg chg="modNotesTx">
        <pc:chgData name="김수종" userId="73fcd19f-aa2f-44d4-bb03-678112fa212f" providerId="ADAL" clId="{40C1ED9D-FDD3-4ED6-9E9C-1DE19B4492EC}" dt="2026-10-29T09:15:29.601" v="72" actId="20577"/>
        <pc:sldMkLst>
          <pc:docMk/>
          <pc:sldMk cId="0" sldId="258"/>
        </pc:sldMkLst>
      </pc:sldChg>
      <pc:sldChg chg="modNotesTx">
        <pc:chgData name="김수종" userId="73fcd19f-aa2f-44d4-bb03-678112fa212f" providerId="ADAL" clId="{40C1ED9D-FDD3-4ED6-9E9C-1DE19B4492EC}" dt="2026-10-29T09:15:32.001" v="73" actId="20577"/>
        <pc:sldMkLst>
          <pc:docMk/>
          <pc:sldMk cId="0" sldId="259"/>
        </pc:sldMkLst>
      </pc:sldChg>
      <pc:sldChg chg="addSp delSp modSp mod">
        <pc:chgData name="김수종" userId="73fcd19f-aa2f-44d4-bb03-678112fa212f" providerId="ADAL" clId="{40C1ED9D-FDD3-4ED6-9E9C-1DE19B4492EC}" dt="2026-10-29T09:12:37.440" v="39" actId="1076"/>
        <pc:sldMkLst>
          <pc:docMk/>
          <pc:sldMk cId="0" sldId="261"/>
        </pc:sldMkLst>
        <pc:spChg chg="mod">
          <ac:chgData name="김수종" userId="73fcd19f-aa2f-44d4-bb03-678112fa212f" providerId="ADAL" clId="{40C1ED9D-FDD3-4ED6-9E9C-1DE19B4492EC}" dt="2026-10-29T09:09:59.933" v="16" actId="1076"/>
          <ac:spMkLst>
            <pc:docMk/>
            <pc:sldMk cId="0" sldId="261"/>
            <ac:spMk id="7" creationId="{00000000-0000-0000-0000-000000000000}"/>
          </ac:spMkLst>
        </pc:spChg>
        <pc:spChg chg="del">
          <ac:chgData name="김수종" userId="73fcd19f-aa2f-44d4-bb03-678112fa212f" providerId="ADAL" clId="{40C1ED9D-FDD3-4ED6-9E9C-1DE19B4492EC}" dt="2026-10-29T09:09:36.797" v="1" actId="478"/>
          <ac:spMkLst>
            <pc:docMk/>
            <pc:sldMk cId="0" sldId="261"/>
            <ac:spMk id="8" creationId="{00000000-0000-0000-0000-000000000000}"/>
          </ac:spMkLst>
        </pc:spChg>
        <pc:spChg chg="del">
          <ac:chgData name="김수종" userId="73fcd19f-aa2f-44d4-bb03-678112fa212f" providerId="ADAL" clId="{40C1ED9D-FDD3-4ED6-9E9C-1DE19B4492EC}" dt="2026-10-29T09:09:36.797" v="1" actId="478"/>
          <ac:spMkLst>
            <pc:docMk/>
            <pc:sldMk cId="0" sldId="261"/>
            <ac:spMk id="9" creationId="{00000000-0000-0000-0000-000000000000}"/>
          </ac:spMkLst>
        </pc:spChg>
        <pc:spChg chg="del">
          <ac:chgData name="김수종" userId="73fcd19f-aa2f-44d4-bb03-678112fa212f" providerId="ADAL" clId="{40C1ED9D-FDD3-4ED6-9E9C-1DE19B4492EC}" dt="2026-10-29T09:09:36.797" v="1" actId="478"/>
          <ac:spMkLst>
            <pc:docMk/>
            <pc:sldMk cId="0" sldId="261"/>
            <ac:spMk id="10" creationId="{00000000-0000-0000-0000-000000000000}"/>
          </ac:spMkLst>
        </pc:spChg>
        <pc:spChg chg="del">
          <ac:chgData name="김수종" userId="73fcd19f-aa2f-44d4-bb03-678112fa212f" providerId="ADAL" clId="{40C1ED9D-FDD3-4ED6-9E9C-1DE19B4492EC}" dt="2026-10-29T09:09:36.797" v="1" actId="478"/>
          <ac:spMkLst>
            <pc:docMk/>
            <pc:sldMk cId="0" sldId="261"/>
            <ac:spMk id="11" creationId="{00000000-0000-0000-0000-000000000000}"/>
          </ac:spMkLst>
        </pc:spChg>
        <pc:spChg chg="del">
          <ac:chgData name="김수종" userId="73fcd19f-aa2f-44d4-bb03-678112fa212f" providerId="ADAL" clId="{40C1ED9D-FDD3-4ED6-9E9C-1DE19B4492EC}" dt="2026-10-29T09:09:36.797" v="1" actId="478"/>
          <ac:spMkLst>
            <pc:docMk/>
            <pc:sldMk cId="0" sldId="261"/>
            <ac:spMk id="12" creationId="{00000000-0000-0000-0000-000000000000}"/>
          </ac:spMkLst>
        </pc:spChg>
        <pc:spChg chg="del">
          <ac:chgData name="김수종" userId="73fcd19f-aa2f-44d4-bb03-678112fa212f" providerId="ADAL" clId="{40C1ED9D-FDD3-4ED6-9E9C-1DE19B4492EC}" dt="2026-10-29T09:09:36.797" v="1" actId="478"/>
          <ac:spMkLst>
            <pc:docMk/>
            <pc:sldMk cId="0" sldId="261"/>
            <ac:spMk id="13" creationId="{00000000-0000-0000-0000-000000000000}"/>
          </ac:spMkLst>
        </pc:spChg>
        <pc:spChg chg="mod">
          <ac:chgData name="김수종" userId="73fcd19f-aa2f-44d4-bb03-678112fa212f" providerId="ADAL" clId="{40C1ED9D-FDD3-4ED6-9E9C-1DE19B4492EC}" dt="2026-10-29T09:12:37.440" v="39" actId="1076"/>
          <ac:spMkLst>
            <pc:docMk/>
            <pc:sldMk cId="0" sldId="261"/>
            <ac:spMk id="14" creationId="{00000000-0000-0000-0000-000000000000}"/>
          </ac:spMkLst>
        </pc:spChg>
        <pc:picChg chg="del mod">
          <ac:chgData name="김수종" userId="73fcd19f-aa2f-44d4-bb03-678112fa212f" providerId="ADAL" clId="{40C1ED9D-FDD3-4ED6-9E9C-1DE19B4492EC}" dt="2026-10-29T09:10:21.531" v="25" actId="478"/>
          <ac:picMkLst>
            <pc:docMk/>
            <pc:sldMk cId="0" sldId="261"/>
            <ac:picMk id="15" creationId="{00000000-0000-0000-0000-000000000000}"/>
          </ac:picMkLst>
        </pc:picChg>
        <pc:picChg chg="mod">
          <ac:chgData name="김수종" userId="73fcd19f-aa2f-44d4-bb03-678112fa212f" providerId="ADAL" clId="{40C1ED9D-FDD3-4ED6-9E9C-1DE19B4492EC}" dt="2026-10-29T09:12:30.837" v="36" actId="1076"/>
          <ac:picMkLst>
            <pc:docMk/>
            <pc:sldMk cId="0" sldId="261"/>
            <ac:picMk id="16" creationId="{00000000-0000-0000-0000-000000000000}"/>
          </ac:picMkLst>
        </pc:picChg>
        <pc:picChg chg="add mod">
          <ac:chgData name="김수종" userId="73fcd19f-aa2f-44d4-bb03-678112fa212f" providerId="ADAL" clId="{40C1ED9D-FDD3-4ED6-9E9C-1DE19B4492EC}" dt="2026-10-29T09:10:02.286" v="18" actId="14100"/>
          <ac:picMkLst>
            <pc:docMk/>
            <pc:sldMk cId="0" sldId="261"/>
            <ac:picMk id="17" creationId="{BC106D33-8F3F-3615-354D-43C2A01C9539}"/>
          </ac:picMkLst>
        </pc:picChg>
        <pc:picChg chg="add mod">
          <ac:chgData name="김수종" userId="73fcd19f-aa2f-44d4-bb03-678112fa212f" providerId="ADAL" clId="{40C1ED9D-FDD3-4ED6-9E9C-1DE19B4492EC}" dt="2026-10-29T09:12:31.832" v="37" actId="1076"/>
          <ac:picMkLst>
            <pc:docMk/>
            <pc:sldMk cId="0" sldId="261"/>
            <ac:picMk id="19" creationId="{C6ED0841-08D7-9320-8740-2A189AAAF7FA}"/>
          </ac:picMkLst>
        </pc:picChg>
      </pc:sldChg>
      <pc:sldChg chg="modSp mod">
        <pc:chgData name="김수종" userId="73fcd19f-aa2f-44d4-bb03-678112fa212f" providerId="ADAL" clId="{40C1ED9D-FDD3-4ED6-9E9C-1DE19B4492EC}" dt="2026-10-29T09:14:33.516" v="62" actId="1076"/>
        <pc:sldMkLst>
          <pc:docMk/>
          <pc:sldMk cId="0" sldId="262"/>
        </pc:sldMkLst>
        <pc:spChg chg="mod">
          <ac:chgData name="김수종" userId="73fcd19f-aa2f-44d4-bb03-678112fa212f" providerId="ADAL" clId="{40C1ED9D-FDD3-4ED6-9E9C-1DE19B4492EC}" dt="2026-10-29T09:14:33.516" v="62" actId="1076"/>
          <ac:spMkLst>
            <pc:docMk/>
            <pc:sldMk cId="0" sldId="262"/>
            <ac:spMk id="9" creationId="{00000000-0000-0000-0000-000000000000}"/>
          </ac:spMkLst>
        </pc:spChg>
        <pc:spChg chg="mod">
          <ac:chgData name="김수종" userId="73fcd19f-aa2f-44d4-bb03-678112fa212f" providerId="ADAL" clId="{40C1ED9D-FDD3-4ED6-9E9C-1DE19B4492EC}" dt="2026-10-29T09:14:33.516" v="62" actId="1076"/>
          <ac:spMkLst>
            <pc:docMk/>
            <pc:sldMk cId="0" sldId="262"/>
            <ac:spMk id="10" creationId="{00000000-0000-0000-0000-000000000000}"/>
          </ac:spMkLst>
        </pc:spChg>
      </pc:sldChg>
      <pc:sldChg chg="delSp modSp mod ord">
        <pc:chgData name="김수종" userId="73fcd19f-aa2f-44d4-bb03-678112fa212f" providerId="ADAL" clId="{40C1ED9D-FDD3-4ED6-9E9C-1DE19B4492EC}" dt="2026-10-29T09:14:55.775" v="68" actId="478"/>
        <pc:sldMkLst>
          <pc:docMk/>
          <pc:sldMk cId="0" sldId="263"/>
        </pc:sldMkLst>
        <pc:spChg chg="del">
          <ac:chgData name="김수종" userId="73fcd19f-aa2f-44d4-bb03-678112fa212f" providerId="ADAL" clId="{40C1ED9D-FDD3-4ED6-9E9C-1DE19B4492EC}" dt="2026-10-29T09:14:54.290" v="67" actId="478"/>
          <ac:spMkLst>
            <pc:docMk/>
            <pc:sldMk cId="0" sldId="263"/>
            <ac:spMk id="21" creationId="{00000000-0000-0000-0000-000000000000}"/>
          </ac:spMkLst>
        </pc:spChg>
        <pc:spChg chg="del mod">
          <ac:chgData name="김수종" userId="73fcd19f-aa2f-44d4-bb03-678112fa212f" providerId="ADAL" clId="{40C1ED9D-FDD3-4ED6-9E9C-1DE19B4492EC}" dt="2026-10-29T09:14:55.775" v="68" actId="478"/>
          <ac:spMkLst>
            <pc:docMk/>
            <pc:sldMk cId="0" sldId="263"/>
            <ac:spMk id="22" creationId="{00000000-0000-0000-0000-000000000000}"/>
          </ac:spMkLst>
        </pc:spChg>
        <pc:spChg chg="del mod">
          <ac:chgData name="김수종" userId="73fcd19f-aa2f-44d4-bb03-678112fa212f" providerId="ADAL" clId="{40C1ED9D-FDD3-4ED6-9E9C-1DE19B4492EC}" dt="2026-10-29T09:14:52.558" v="65" actId="478"/>
          <ac:spMkLst>
            <pc:docMk/>
            <pc:sldMk cId="0" sldId="263"/>
            <ac:spMk id="23" creationId="{00000000-0000-0000-0000-000000000000}"/>
          </ac:spMkLst>
        </pc:spChg>
      </pc:sldChg>
      <pc:sldChg chg="del">
        <pc:chgData name="김수종" userId="73fcd19f-aa2f-44d4-bb03-678112fa212f" providerId="ADAL" clId="{40C1ED9D-FDD3-4ED6-9E9C-1DE19B4492EC}" dt="2026-10-29T09:18:29.063" v="74" actId="2696"/>
        <pc:sldMkLst>
          <pc:docMk/>
          <pc:sldMk cId="0"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146476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[45초] 이 프로젝트의 AI 활용은 Codex를 통한 개발 보조입니다. 사용자 입력을 받아 AI가 추천하는 런타임 기능은 구현하지 않았습니다. 실제 요구사항을 전달해 코드와 UI를 수정하고, 실제 API 응답과 테스트로 확인했습니다. 분류 기준이 모호했던 음식 분류는 제거했고, 없는 데이터는 만들어내지 않고 확인 불가로 표시했습니다. 평가표의 사용자 대상 AI 기능은 향후 개선 과제입니다.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[40초] 왼쪽은 초기 구조를 설명하기 위해 재구성한 와이어프레임입니다. 원본 초기 산출물은 아닙니다. 오른쪽은 현재 앱 화면입니다. 긴 정보를 탭으로 나누고 브랜드 로고, 운영 상태, 기준일을 보여줍니다. 화면 폭이 줄어들면 카드가 자연스럽게 재배치됩니다. 로딩과 오류 상태도 별도로 안내합니다.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[150초] 발표 전 배포 URL을 이 슬라이드에 입력하고 실제 접속을 확인하세요. 시연 1: 출발지 서울만남의광장휴게소와 도착지 안성시청을 검색해 장소를 선택한 뒤 경로를 찾습니다(50초). 시연 2: 휴게소 상세에서 메뉴, 브랜드 운영시간, 주차와 지도 확인(40초). 시연 3: 두 휴게소를 비교해 같은 음식 가격과 주차면 수 확인(40초). 시연 4: 졸음쉼터 위치 확인 및 처음 화면으로 복귀(20초). 장애 시 이 자료의 실제 화면 캡처로 설명합니다. 배포 URL은 미전달 상태이며 현재 배포 여부를 검증하지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[45초] 프런트엔드는 React 19와 Vite 7, 백엔드는 Node.js 기반 API 중계 서버입니다. 서버에서 한국도로공사, 공공데이터포털, 카카오 REST API를 호출하며 REST 인증키는 서버 환경변수로 관리합니다. 지도 JavaScript 키는 도메인 설정이 필요합니다. 좌표 캐시, 요청 병렬화와 로딩 상태로 초기 표시를 개선했습니다. 이 슬라이드의 배포 완료는 사용자 요청에 따른 배포 후 발표용 문구입니다. 실제 공개 URL 전달과 접속 검증은 아직 필요합니다. 실제 완료 전에는 발표에서 완료 사실로 말하지 마세요.</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[40초] 핵심 가치는 방문할 장소를 결정하기 위한 정보를 한 흐름에 모았다는 점입니다. 같은 음식은 가격을 직접 비교하고, 주차는 등록 면수로 비교합니다. 자료가 없는 항목은 없음과 구분합니다. 주차 실시간 빈자리와 실제 영업 상태는 제공하지 못하며, 경로 인근 판정도 진입 가능성을 보장하지 않습니다. 사용자 대상 AI 기능, 방향 검증 보강과 실사용자 평가가 다음 과제입니다.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05840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PUBLIC DATA × HIGHWAY JOURNEY</a:t>
            </a:r>
          </a:p>
        </p:txBody>
      </p:sp>
      <p:sp>
        <p:nvSpPr>
          <p:cNvPr id="3" name="TextBox 2"/>
          <p:cNvSpPr txBox="1"/>
          <p:nvPr/>
        </p:nvSpPr>
        <p:spPr>
          <a:xfrm>
            <a:off x="502920" y="713232"/>
            <a:ext cx="11155680" cy="731520"/>
          </a:xfrm>
          <a:prstGeom prst="rect">
            <a:avLst/>
          </a:prstGeom>
          <a:noFill/>
        </p:spPr>
        <p:txBody>
          <a:bodyPr wrap="square" lIns="18288" tIns="18288" rIns="18288">
            <a:spAutoFit/>
          </a:bodyPr>
          <a:lstStyle/>
          <a:p>
            <a:pPr>
              <a:spcAft>
                <a:spcPts val="1000"/>
              </a:spcAft>
              <a:defRPr sz="2900" b="1">
                <a:solidFill>
                  <a:srgbClr val="20304B"/>
                </a:solidFill>
                <a:latin typeface="맑은 고딕"/>
              </a:defRPr>
            </a:pPr>
            <a:r>
              <a:t>휴게길</a:t>
            </a:r>
          </a:p>
        </p:txBody>
      </p:sp>
      <p:sp>
        <p:nvSpPr>
          <p:cNvPr id="4" name="Rounded Rectangle 3"/>
          <p:cNvSpPr/>
          <p:nvPr/>
        </p:nvSpPr>
        <p:spPr>
          <a:xfrm>
            <a:off x="502920" y="6519672"/>
            <a:ext cx="11155680" cy="10972"/>
          </a:xfrm>
          <a:prstGeom prst="roundRect">
            <a:avLst/>
          </a:prstGeom>
          <a:solidFill>
            <a:srgbClr val="DC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601968"/>
            <a:ext cx="9144000" cy="182880"/>
          </a:xfrm>
          <a:prstGeom prst="rect">
            <a:avLst/>
          </a:prstGeom>
          <a:noFill/>
        </p:spPr>
        <p:txBody>
          <a:bodyPr wrap="square" lIns="18288" tIns="18288" rIns="18288">
            <a:spAutoFit/>
          </a:bodyPr>
          <a:lstStyle/>
          <a:p>
            <a:pPr>
              <a:spcAft>
                <a:spcPts val="1000"/>
              </a:spcAft>
              <a:defRPr sz="900" b="0">
                <a:solidFill>
                  <a:srgbClr val="708097"/>
                </a:solidFill>
                <a:latin typeface="맑은 고딕"/>
              </a:defRPr>
            </a:pPr>
            <a:r>
              <a:t>휴게길  ·  김수종 / 202395007</a:t>
            </a:r>
          </a:p>
        </p:txBody>
      </p:sp>
      <p:sp>
        <p:nvSpPr>
          <p:cNvPr id="6" name="TextBox 5"/>
          <p:cNvSpPr txBox="1"/>
          <p:nvPr/>
        </p:nvSpPr>
        <p:spPr>
          <a:xfrm>
            <a:off x="11064240" y="6565392"/>
            <a:ext cx="54864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01</a:t>
            </a:r>
          </a:p>
        </p:txBody>
      </p:sp>
      <p:sp>
        <p:nvSpPr>
          <p:cNvPr id="7" name="Rounded Rectangle 6"/>
          <p:cNvSpPr/>
          <p:nvPr/>
        </p:nvSpPr>
        <p:spPr>
          <a:xfrm>
            <a:off x="502920" y="1645920"/>
            <a:ext cx="5532120" cy="4434840"/>
          </a:xfrm>
          <a:prstGeom prst="roundRect">
            <a:avLst/>
          </a:prstGeom>
          <a:solidFill>
            <a:srgbClr val="20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food.png"/>
          <p:cNvPicPr>
            <a:picLocks noChangeAspect="1"/>
          </p:cNvPicPr>
          <p:nvPr/>
        </p:nvPicPr>
        <p:blipFill>
          <a:blip r:embed="rId3"/>
          <a:stretch>
            <a:fillRect/>
          </a:stretch>
        </p:blipFill>
        <p:spPr>
          <a:xfrm>
            <a:off x="7586068" y="2277947"/>
            <a:ext cx="3035923" cy="3035923"/>
          </a:xfrm>
          <a:prstGeom prst="rect">
            <a:avLst/>
          </a:prstGeom>
        </p:spPr>
      </p:pic>
      <p:sp>
        <p:nvSpPr>
          <p:cNvPr id="9" name="TextBox 8"/>
          <p:cNvSpPr txBox="1"/>
          <p:nvPr/>
        </p:nvSpPr>
        <p:spPr>
          <a:xfrm>
            <a:off x="845820" y="2103120"/>
            <a:ext cx="4846320" cy="1645920"/>
          </a:xfrm>
          <a:prstGeom prst="rect">
            <a:avLst/>
          </a:prstGeom>
          <a:noFill/>
        </p:spPr>
        <p:txBody>
          <a:bodyPr wrap="square" lIns="18288" tIns="18288" rIns="18288">
            <a:spAutoFit/>
          </a:bodyPr>
          <a:lstStyle/>
          <a:p>
            <a:pPr>
              <a:spcAft>
                <a:spcPts val="1000"/>
              </a:spcAft>
              <a:defRPr sz="3400" b="1">
                <a:solidFill>
                  <a:srgbClr val="FFFFFF"/>
                </a:solidFill>
                <a:latin typeface="맑은 고딕"/>
              </a:defRPr>
            </a:pPr>
            <a:r>
              <a:rPr dirty="0" err="1"/>
              <a:t>가는</a:t>
            </a:r>
            <a:r>
              <a:rPr dirty="0"/>
              <a:t> </a:t>
            </a:r>
            <a:r>
              <a:rPr dirty="0" err="1"/>
              <a:t>길의</a:t>
            </a:r>
            <a:r>
              <a:rPr dirty="0"/>
              <a:t> 쉼,</a:t>
            </a:r>
          </a:p>
          <a:p>
            <a:pPr>
              <a:spcAft>
                <a:spcPts val="1000"/>
              </a:spcAft>
              <a:defRPr sz="3400" b="1">
                <a:solidFill>
                  <a:srgbClr val="FFFFFF"/>
                </a:solidFill>
                <a:latin typeface="맑은 고딕"/>
              </a:defRPr>
            </a:pPr>
            <a:r>
              <a:rPr dirty="0" err="1"/>
              <a:t>공공데이터로</a:t>
            </a:r>
            <a:r>
              <a:rPr dirty="0"/>
              <a:t> </a:t>
            </a:r>
            <a:r>
              <a:rPr dirty="0" err="1"/>
              <a:t>한눈에</a:t>
            </a:r>
            <a:endParaRPr dirty="0"/>
          </a:p>
        </p:txBody>
      </p:sp>
      <p:sp>
        <p:nvSpPr>
          <p:cNvPr id="10" name="TextBox 9"/>
          <p:cNvSpPr txBox="1"/>
          <p:nvPr/>
        </p:nvSpPr>
        <p:spPr>
          <a:xfrm>
            <a:off x="868680" y="5074920"/>
            <a:ext cx="4754880" cy="685316"/>
          </a:xfrm>
          <a:prstGeom prst="rect">
            <a:avLst/>
          </a:prstGeom>
          <a:noFill/>
        </p:spPr>
        <p:txBody>
          <a:bodyPr wrap="square" lIns="18288" tIns="18288" rIns="18288">
            <a:spAutoFit/>
          </a:bodyPr>
          <a:lstStyle/>
          <a:p>
            <a:pPr>
              <a:spcAft>
                <a:spcPts val="1000"/>
              </a:spcAft>
              <a:defRPr sz="1600" b="0">
                <a:solidFill>
                  <a:srgbClr val="C9D9E4"/>
                </a:solidFill>
                <a:latin typeface="맑은 고딕"/>
              </a:defRPr>
            </a:pPr>
            <a:r>
              <a:rPr dirty="0"/>
              <a:t>김수종  |  202395007</a:t>
            </a:r>
          </a:p>
          <a:p>
            <a:pPr>
              <a:spcAft>
                <a:spcPts val="1000"/>
              </a:spcAft>
              <a:defRPr sz="1600" b="0">
                <a:solidFill>
                  <a:srgbClr val="C9D9E4"/>
                </a:solidFill>
                <a:latin typeface="맑은 고딕"/>
              </a:defRPr>
            </a:pPr>
            <a:r>
              <a:rPr dirty="0" err="1"/>
              <a:t>프로젝트</a:t>
            </a:r>
            <a:r>
              <a:rPr lang="ko-KR" altLang="en-US" dirty="0"/>
              <a:t> </a:t>
            </a:r>
            <a:r>
              <a:rPr lang="en-US" altLang="ko-KR" dirty="0"/>
              <a:t>2 </a:t>
            </a:r>
            <a:r>
              <a:rPr lang="ko-KR" altLang="en-US" dirty="0"/>
              <a:t>발표</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05840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01 / PROBLEM &amp; USER VALUE</a:t>
            </a:r>
          </a:p>
        </p:txBody>
      </p:sp>
      <p:sp>
        <p:nvSpPr>
          <p:cNvPr id="3" name="TextBox 2"/>
          <p:cNvSpPr txBox="1"/>
          <p:nvPr/>
        </p:nvSpPr>
        <p:spPr>
          <a:xfrm>
            <a:off x="502920" y="713232"/>
            <a:ext cx="11155680" cy="731520"/>
          </a:xfrm>
          <a:prstGeom prst="rect">
            <a:avLst/>
          </a:prstGeom>
          <a:noFill/>
        </p:spPr>
        <p:txBody>
          <a:bodyPr wrap="square" lIns="18288" tIns="18288" rIns="18288">
            <a:spAutoFit/>
          </a:bodyPr>
          <a:lstStyle/>
          <a:p>
            <a:pPr>
              <a:spcAft>
                <a:spcPts val="1000"/>
              </a:spcAft>
              <a:defRPr sz="2900" b="1">
                <a:solidFill>
                  <a:srgbClr val="20304B"/>
                </a:solidFill>
                <a:latin typeface="맑은 고딕"/>
              </a:defRPr>
            </a:pPr>
            <a:r>
              <a:t>운전자는 장소보다 ‘가는 방향의 정보’가 필요합니다</a:t>
            </a:r>
          </a:p>
        </p:txBody>
      </p:sp>
      <p:sp>
        <p:nvSpPr>
          <p:cNvPr id="4" name="Rounded Rectangle 3"/>
          <p:cNvSpPr/>
          <p:nvPr/>
        </p:nvSpPr>
        <p:spPr>
          <a:xfrm>
            <a:off x="502920" y="6519672"/>
            <a:ext cx="11155680" cy="10972"/>
          </a:xfrm>
          <a:prstGeom prst="roundRect">
            <a:avLst/>
          </a:prstGeom>
          <a:solidFill>
            <a:srgbClr val="DC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601968"/>
            <a:ext cx="9144000" cy="182880"/>
          </a:xfrm>
          <a:prstGeom prst="rect">
            <a:avLst/>
          </a:prstGeom>
          <a:noFill/>
        </p:spPr>
        <p:txBody>
          <a:bodyPr wrap="square" lIns="18288" tIns="18288" rIns="18288">
            <a:spAutoFit/>
          </a:bodyPr>
          <a:lstStyle/>
          <a:p>
            <a:pPr>
              <a:spcAft>
                <a:spcPts val="1000"/>
              </a:spcAft>
              <a:defRPr sz="900" b="0">
                <a:solidFill>
                  <a:srgbClr val="708097"/>
                </a:solidFill>
                <a:latin typeface="맑은 고딕"/>
              </a:defRPr>
            </a:pPr>
            <a:r>
              <a:t>휴게길  ·  김수종 / 202395007</a:t>
            </a:r>
          </a:p>
        </p:txBody>
      </p:sp>
      <p:sp>
        <p:nvSpPr>
          <p:cNvPr id="6" name="TextBox 5"/>
          <p:cNvSpPr txBox="1"/>
          <p:nvPr/>
        </p:nvSpPr>
        <p:spPr>
          <a:xfrm>
            <a:off x="11064240" y="6565392"/>
            <a:ext cx="54864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02</a:t>
            </a:r>
          </a:p>
        </p:txBody>
      </p:sp>
      <p:sp>
        <p:nvSpPr>
          <p:cNvPr id="7" name="Rounded Rectangle 6"/>
          <p:cNvSpPr/>
          <p:nvPr/>
        </p:nvSpPr>
        <p:spPr>
          <a:xfrm>
            <a:off x="502920" y="1828800"/>
            <a:ext cx="3584448" cy="2971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828800"/>
            <a:ext cx="50292" cy="2971800"/>
          </a:xfrm>
          <a:prstGeom prst="roundRect">
            <a:avLst/>
          </a:prstGeom>
          <a:solidFill>
            <a:srgbClr val="47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2011680"/>
            <a:ext cx="3218688" cy="548640"/>
          </a:xfrm>
          <a:prstGeom prst="rect">
            <a:avLst/>
          </a:prstGeom>
          <a:noFill/>
        </p:spPr>
        <p:txBody>
          <a:bodyPr wrap="square" lIns="18288" tIns="18288" rIns="18288">
            <a:spAutoFit/>
          </a:bodyPr>
          <a:lstStyle/>
          <a:p>
            <a:pPr>
              <a:spcAft>
                <a:spcPts val="1000"/>
              </a:spcAft>
              <a:defRPr sz="2100" b="1">
                <a:solidFill>
                  <a:srgbClr val="20304B"/>
                </a:solidFill>
                <a:latin typeface="맑은 고딕"/>
              </a:defRPr>
            </a:pPr>
            <a:r>
              <a:t>어디서 쉴까?</a:t>
            </a:r>
          </a:p>
        </p:txBody>
      </p:sp>
      <p:sp>
        <p:nvSpPr>
          <p:cNvPr id="10" name="TextBox 9"/>
          <p:cNvSpPr txBox="1"/>
          <p:nvPr/>
        </p:nvSpPr>
        <p:spPr>
          <a:xfrm>
            <a:off x="704088" y="2697480"/>
            <a:ext cx="3172968" cy="2103120"/>
          </a:xfrm>
          <a:prstGeom prst="rect">
            <a:avLst/>
          </a:prstGeom>
          <a:noFill/>
        </p:spPr>
        <p:txBody>
          <a:bodyPr wrap="square" lIns="18288" tIns="18288" rIns="18288">
            <a:spAutoFit/>
          </a:bodyPr>
          <a:lstStyle/>
          <a:p>
            <a:pPr>
              <a:spcAft>
                <a:spcPts val="1000"/>
              </a:spcAft>
              <a:defRPr sz="1700" b="0">
                <a:solidFill>
                  <a:srgbClr val="708097"/>
                </a:solidFill>
                <a:latin typeface="맑은 고딕"/>
              </a:defRPr>
            </a:pPr>
            <a:r>
              <a:t>노선과 진행 방향에 맞는</a:t>
            </a:r>
          </a:p>
          <a:p>
            <a:pPr>
              <a:spcAft>
                <a:spcPts val="1000"/>
              </a:spcAft>
              <a:defRPr sz="1700" b="0">
                <a:solidFill>
                  <a:srgbClr val="708097"/>
                </a:solidFill>
                <a:latin typeface="맑은 고딕"/>
              </a:defRPr>
            </a:pPr>
            <a:r>
              <a:t>휴게소 · 졸음쉼터 탐색</a:t>
            </a:r>
          </a:p>
        </p:txBody>
      </p:sp>
      <p:sp>
        <p:nvSpPr>
          <p:cNvPr id="11" name="Rounded Rectangle 10"/>
          <p:cNvSpPr/>
          <p:nvPr/>
        </p:nvSpPr>
        <p:spPr>
          <a:xfrm>
            <a:off x="4297680" y="1828800"/>
            <a:ext cx="3584448" cy="2971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97680" y="1828800"/>
            <a:ext cx="50292" cy="2971800"/>
          </a:xfrm>
          <a:prstGeom prst="roundRect">
            <a:avLst/>
          </a:prstGeom>
          <a:solidFill>
            <a:srgbClr val="47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98848" y="2011680"/>
            <a:ext cx="3218688" cy="548640"/>
          </a:xfrm>
          <a:prstGeom prst="rect">
            <a:avLst/>
          </a:prstGeom>
          <a:noFill/>
        </p:spPr>
        <p:txBody>
          <a:bodyPr wrap="square" lIns="18288" tIns="18288" rIns="18288">
            <a:spAutoFit/>
          </a:bodyPr>
          <a:lstStyle/>
          <a:p>
            <a:pPr>
              <a:spcAft>
                <a:spcPts val="1000"/>
              </a:spcAft>
              <a:defRPr sz="2100" b="1">
                <a:solidFill>
                  <a:srgbClr val="20304B"/>
                </a:solidFill>
                <a:latin typeface="맑은 고딕"/>
              </a:defRPr>
            </a:pPr>
            <a:r>
              <a:t>무엇을 먹을까?</a:t>
            </a:r>
          </a:p>
        </p:txBody>
      </p:sp>
      <p:sp>
        <p:nvSpPr>
          <p:cNvPr id="14" name="TextBox 13"/>
          <p:cNvSpPr txBox="1"/>
          <p:nvPr/>
        </p:nvSpPr>
        <p:spPr>
          <a:xfrm>
            <a:off x="4498848" y="2697480"/>
            <a:ext cx="3172968" cy="2103120"/>
          </a:xfrm>
          <a:prstGeom prst="rect">
            <a:avLst/>
          </a:prstGeom>
          <a:noFill/>
        </p:spPr>
        <p:txBody>
          <a:bodyPr wrap="square" lIns="18288" tIns="18288" rIns="18288">
            <a:spAutoFit/>
          </a:bodyPr>
          <a:lstStyle/>
          <a:p>
            <a:pPr>
              <a:spcAft>
                <a:spcPts val="1000"/>
              </a:spcAft>
              <a:defRPr sz="1700" b="0">
                <a:solidFill>
                  <a:srgbClr val="708097"/>
                </a:solidFill>
                <a:latin typeface="맑은 고딕"/>
              </a:defRPr>
            </a:pPr>
            <a:r>
              <a:t>음식 가격과 입점 브랜드,</a:t>
            </a:r>
          </a:p>
          <a:p>
            <a:pPr>
              <a:spcAft>
                <a:spcPts val="1000"/>
              </a:spcAft>
              <a:defRPr sz="1700" b="0">
                <a:solidFill>
                  <a:srgbClr val="708097"/>
                </a:solidFill>
                <a:latin typeface="맑은 고딕"/>
              </a:defRPr>
            </a:pPr>
            <a:r>
              <a:t>등록 운영시간 확인</a:t>
            </a:r>
          </a:p>
        </p:txBody>
      </p:sp>
      <p:sp>
        <p:nvSpPr>
          <p:cNvPr id="15" name="Rounded Rectangle 14"/>
          <p:cNvSpPr/>
          <p:nvPr/>
        </p:nvSpPr>
        <p:spPr>
          <a:xfrm>
            <a:off x="8092440" y="1828800"/>
            <a:ext cx="3584448" cy="2971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092440" y="1828800"/>
            <a:ext cx="50292" cy="2971800"/>
          </a:xfrm>
          <a:prstGeom prst="roundRect">
            <a:avLst/>
          </a:prstGeom>
          <a:solidFill>
            <a:srgbClr val="47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8" y="2011680"/>
            <a:ext cx="3218688" cy="548640"/>
          </a:xfrm>
          <a:prstGeom prst="rect">
            <a:avLst/>
          </a:prstGeom>
          <a:noFill/>
        </p:spPr>
        <p:txBody>
          <a:bodyPr wrap="square" lIns="18288" tIns="18288" rIns="18288">
            <a:spAutoFit/>
          </a:bodyPr>
          <a:lstStyle/>
          <a:p>
            <a:pPr>
              <a:spcAft>
                <a:spcPts val="1000"/>
              </a:spcAft>
              <a:defRPr sz="2100" b="1">
                <a:solidFill>
                  <a:srgbClr val="20304B"/>
                </a:solidFill>
                <a:latin typeface="맑은 고딕"/>
              </a:defRPr>
            </a:pPr>
            <a:r>
              <a:t>어느 곳이 나을까?</a:t>
            </a:r>
          </a:p>
        </p:txBody>
      </p:sp>
      <p:sp>
        <p:nvSpPr>
          <p:cNvPr id="18" name="TextBox 17"/>
          <p:cNvSpPr txBox="1"/>
          <p:nvPr/>
        </p:nvSpPr>
        <p:spPr>
          <a:xfrm>
            <a:off x="8293608" y="2697480"/>
            <a:ext cx="3172968" cy="2103120"/>
          </a:xfrm>
          <a:prstGeom prst="rect">
            <a:avLst/>
          </a:prstGeom>
          <a:noFill/>
        </p:spPr>
        <p:txBody>
          <a:bodyPr wrap="square" lIns="18288" tIns="18288" rIns="18288">
            <a:spAutoFit/>
          </a:bodyPr>
          <a:lstStyle/>
          <a:p>
            <a:pPr>
              <a:spcAft>
                <a:spcPts val="1000"/>
              </a:spcAft>
              <a:defRPr sz="1700" b="0">
                <a:solidFill>
                  <a:srgbClr val="708097"/>
                </a:solidFill>
                <a:latin typeface="맑은 고딕"/>
              </a:defRPr>
            </a:pPr>
            <a:r>
              <a:t>같은 음식 가격과 주차 규모,</a:t>
            </a:r>
          </a:p>
          <a:p>
            <a:pPr>
              <a:spcAft>
                <a:spcPts val="1000"/>
              </a:spcAft>
              <a:defRPr sz="1700" b="0">
                <a:solidFill>
                  <a:srgbClr val="708097"/>
                </a:solidFill>
                <a:latin typeface="맑은 고딕"/>
              </a:defRPr>
            </a:pPr>
            <a:r>
              <a:t>과거 이용량을 나란히 비교</a:t>
            </a:r>
          </a:p>
        </p:txBody>
      </p:sp>
      <p:sp>
        <p:nvSpPr>
          <p:cNvPr id="19" name="Rounded Rectangle 18"/>
          <p:cNvSpPr/>
          <p:nvPr/>
        </p:nvSpPr>
        <p:spPr>
          <a:xfrm>
            <a:off x="502920" y="5166360"/>
            <a:ext cx="11155680" cy="777240"/>
          </a:xfrm>
          <a:prstGeom prst="roundRect">
            <a:avLst/>
          </a:prstGeom>
          <a:solidFill>
            <a:srgbClr val="20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5349240"/>
            <a:ext cx="10607040" cy="411480"/>
          </a:xfrm>
          <a:prstGeom prst="rect">
            <a:avLst/>
          </a:prstGeom>
          <a:noFill/>
        </p:spPr>
        <p:txBody>
          <a:bodyPr wrap="square" lIns="18288" tIns="18288" rIns="18288">
            <a:spAutoFit/>
          </a:bodyPr>
          <a:lstStyle/>
          <a:p>
            <a:pPr>
              <a:spcAft>
                <a:spcPts val="1000"/>
              </a:spcAft>
              <a:defRPr sz="2300" b="1">
                <a:solidFill>
                  <a:srgbClr val="FFFFFF"/>
                </a:solidFill>
                <a:latin typeface="맑은 고딕"/>
              </a:defRPr>
            </a:pPr>
            <a:r>
              <a:t>출발 전 탐색 → 이동 중 휴식 계획 → 방문할 곳 선택</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05840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02 / DATA SOURCES</a:t>
            </a:r>
          </a:p>
        </p:txBody>
      </p:sp>
      <p:sp>
        <p:nvSpPr>
          <p:cNvPr id="3" name="TextBox 2"/>
          <p:cNvSpPr txBox="1"/>
          <p:nvPr/>
        </p:nvSpPr>
        <p:spPr>
          <a:xfrm>
            <a:off x="502920" y="713232"/>
            <a:ext cx="11155680" cy="731520"/>
          </a:xfrm>
          <a:prstGeom prst="rect">
            <a:avLst/>
          </a:prstGeom>
          <a:noFill/>
        </p:spPr>
        <p:txBody>
          <a:bodyPr wrap="square" lIns="18288" tIns="18288" rIns="18288">
            <a:spAutoFit/>
          </a:bodyPr>
          <a:lstStyle/>
          <a:p>
            <a:pPr>
              <a:spcAft>
                <a:spcPts val="1000"/>
              </a:spcAft>
              <a:defRPr sz="2900" b="1">
                <a:solidFill>
                  <a:srgbClr val="20304B"/>
                </a:solidFill>
                <a:latin typeface="맑은 고딕"/>
              </a:defRPr>
            </a:pPr>
            <a:r>
              <a:t>흩어진 공공데이터를 휴게소 단위로 연결했습니다</a:t>
            </a:r>
          </a:p>
        </p:txBody>
      </p:sp>
      <p:sp>
        <p:nvSpPr>
          <p:cNvPr id="4" name="Rounded Rectangle 3"/>
          <p:cNvSpPr/>
          <p:nvPr/>
        </p:nvSpPr>
        <p:spPr>
          <a:xfrm>
            <a:off x="502920" y="6519672"/>
            <a:ext cx="11155680" cy="10972"/>
          </a:xfrm>
          <a:prstGeom prst="roundRect">
            <a:avLst/>
          </a:prstGeom>
          <a:solidFill>
            <a:srgbClr val="DC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601968"/>
            <a:ext cx="9144000" cy="182880"/>
          </a:xfrm>
          <a:prstGeom prst="rect">
            <a:avLst/>
          </a:prstGeom>
          <a:noFill/>
        </p:spPr>
        <p:txBody>
          <a:bodyPr wrap="square" lIns="18288" tIns="18288" rIns="18288">
            <a:spAutoFit/>
          </a:bodyPr>
          <a:lstStyle/>
          <a:p>
            <a:pPr>
              <a:spcAft>
                <a:spcPts val="1000"/>
              </a:spcAft>
              <a:defRPr sz="900" b="0">
                <a:solidFill>
                  <a:srgbClr val="708097"/>
                </a:solidFill>
                <a:latin typeface="맑은 고딕"/>
              </a:defRPr>
            </a:pPr>
            <a:r>
              <a:t>휴게길  ·  김수종 / 202395007</a:t>
            </a:r>
          </a:p>
        </p:txBody>
      </p:sp>
      <p:sp>
        <p:nvSpPr>
          <p:cNvPr id="6" name="TextBox 5"/>
          <p:cNvSpPr txBox="1"/>
          <p:nvPr/>
        </p:nvSpPr>
        <p:spPr>
          <a:xfrm>
            <a:off x="11064240" y="6565392"/>
            <a:ext cx="54864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03</a:t>
            </a:r>
          </a:p>
        </p:txBody>
      </p:sp>
      <p:sp>
        <p:nvSpPr>
          <p:cNvPr id="7" name="Rounded Rectangle 6"/>
          <p:cNvSpPr/>
          <p:nvPr/>
        </p:nvSpPr>
        <p:spPr>
          <a:xfrm>
            <a:off x="502920" y="1691640"/>
            <a:ext cx="210312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1828800"/>
            <a:ext cx="1828800" cy="548640"/>
          </a:xfrm>
          <a:prstGeom prst="rect">
            <a:avLst/>
          </a:prstGeom>
          <a:noFill/>
        </p:spPr>
        <p:txBody>
          <a:bodyPr wrap="square" lIns="18288" tIns="18288" rIns="18288">
            <a:spAutoFit/>
          </a:bodyPr>
          <a:lstStyle/>
          <a:p>
            <a:pPr>
              <a:spcAft>
                <a:spcPts val="1000"/>
              </a:spcAft>
              <a:defRPr sz="3200" b="1">
                <a:solidFill>
                  <a:srgbClr val="47858A"/>
                </a:solidFill>
                <a:latin typeface="맑은 고딕"/>
              </a:defRPr>
            </a:pPr>
            <a:r>
              <a:t>243</a:t>
            </a:r>
          </a:p>
        </p:txBody>
      </p:sp>
      <p:sp>
        <p:nvSpPr>
          <p:cNvPr id="9" name="TextBox 8"/>
          <p:cNvSpPr txBox="1"/>
          <p:nvPr/>
        </p:nvSpPr>
        <p:spPr>
          <a:xfrm>
            <a:off x="649224" y="2468880"/>
            <a:ext cx="1828800" cy="320040"/>
          </a:xfrm>
          <a:prstGeom prst="rect">
            <a:avLst/>
          </a:prstGeom>
          <a:noFill/>
        </p:spPr>
        <p:txBody>
          <a:bodyPr wrap="square" lIns="18288" tIns="18288" rIns="18288">
            <a:spAutoFit/>
          </a:bodyPr>
          <a:lstStyle/>
          <a:p>
            <a:pPr>
              <a:spcAft>
                <a:spcPts val="1000"/>
              </a:spcAft>
              <a:defRPr sz="1400" b="0">
                <a:solidFill>
                  <a:srgbClr val="708097"/>
                </a:solidFill>
                <a:latin typeface="맑은 고딕"/>
              </a:defRPr>
            </a:pPr>
            <a:r>
              <a:t>휴게소</a:t>
            </a:r>
          </a:p>
        </p:txBody>
      </p:sp>
      <p:sp>
        <p:nvSpPr>
          <p:cNvPr id="10" name="Rounded Rectangle 9"/>
          <p:cNvSpPr/>
          <p:nvPr/>
        </p:nvSpPr>
        <p:spPr>
          <a:xfrm>
            <a:off x="2834640" y="1691640"/>
            <a:ext cx="210312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80944" y="1828800"/>
            <a:ext cx="1828800" cy="548640"/>
          </a:xfrm>
          <a:prstGeom prst="rect">
            <a:avLst/>
          </a:prstGeom>
          <a:noFill/>
        </p:spPr>
        <p:txBody>
          <a:bodyPr wrap="square" lIns="18288" tIns="18288" rIns="18288">
            <a:spAutoFit/>
          </a:bodyPr>
          <a:lstStyle/>
          <a:p>
            <a:pPr>
              <a:spcAft>
                <a:spcPts val="1000"/>
              </a:spcAft>
              <a:defRPr sz="3200" b="1">
                <a:solidFill>
                  <a:srgbClr val="47858A"/>
                </a:solidFill>
                <a:latin typeface="맑은 고딕"/>
              </a:defRPr>
            </a:pPr>
            <a:r>
              <a:t>7,259</a:t>
            </a:r>
          </a:p>
        </p:txBody>
      </p:sp>
      <p:sp>
        <p:nvSpPr>
          <p:cNvPr id="12" name="TextBox 11"/>
          <p:cNvSpPr txBox="1"/>
          <p:nvPr/>
        </p:nvSpPr>
        <p:spPr>
          <a:xfrm>
            <a:off x="2980944" y="2468880"/>
            <a:ext cx="1828800" cy="320040"/>
          </a:xfrm>
          <a:prstGeom prst="rect">
            <a:avLst/>
          </a:prstGeom>
          <a:noFill/>
        </p:spPr>
        <p:txBody>
          <a:bodyPr wrap="square" lIns="18288" tIns="18288" rIns="18288">
            <a:spAutoFit/>
          </a:bodyPr>
          <a:lstStyle/>
          <a:p>
            <a:pPr>
              <a:spcAft>
                <a:spcPts val="1000"/>
              </a:spcAft>
              <a:defRPr sz="1400" b="0">
                <a:solidFill>
                  <a:srgbClr val="708097"/>
                </a:solidFill>
                <a:latin typeface="맑은 고딕"/>
              </a:defRPr>
            </a:pPr>
            <a:r>
              <a:t>음식 메뉴</a:t>
            </a:r>
          </a:p>
        </p:txBody>
      </p:sp>
      <p:sp>
        <p:nvSpPr>
          <p:cNvPr id="13" name="Rounded Rectangle 12"/>
          <p:cNvSpPr/>
          <p:nvPr/>
        </p:nvSpPr>
        <p:spPr>
          <a:xfrm>
            <a:off x="5166360" y="1691640"/>
            <a:ext cx="210312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12664" y="1828800"/>
            <a:ext cx="1828800" cy="548640"/>
          </a:xfrm>
          <a:prstGeom prst="rect">
            <a:avLst/>
          </a:prstGeom>
          <a:noFill/>
        </p:spPr>
        <p:txBody>
          <a:bodyPr wrap="square" lIns="18288" tIns="18288" rIns="18288">
            <a:spAutoFit/>
          </a:bodyPr>
          <a:lstStyle/>
          <a:p>
            <a:pPr>
              <a:spcAft>
                <a:spcPts val="1000"/>
              </a:spcAft>
              <a:defRPr sz="3200" b="1">
                <a:solidFill>
                  <a:srgbClr val="47858A"/>
                </a:solidFill>
                <a:latin typeface="맑은 고딕"/>
              </a:defRPr>
            </a:pPr>
            <a:r>
              <a:t>253</a:t>
            </a:r>
          </a:p>
        </p:txBody>
      </p:sp>
      <p:sp>
        <p:nvSpPr>
          <p:cNvPr id="15" name="TextBox 14"/>
          <p:cNvSpPr txBox="1"/>
          <p:nvPr/>
        </p:nvSpPr>
        <p:spPr>
          <a:xfrm>
            <a:off x="5312664" y="2468880"/>
            <a:ext cx="1828800" cy="320040"/>
          </a:xfrm>
          <a:prstGeom prst="rect">
            <a:avLst/>
          </a:prstGeom>
          <a:noFill/>
        </p:spPr>
        <p:txBody>
          <a:bodyPr wrap="square" lIns="18288" tIns="18288" rIns="18288">
            <a:spAutoFit/>
          </a:bodyPr>
          <a:lstStyle/>
          <a:p>
            <a:pPr>
              <a:spcAft>
                <a:spcPts val="1000"/>
              </a:spcAft>
              <a:defRPr sz="1400" b="0">
                <a:solidFill>
                  <a:srgbClr val="708097"/>
                </a:solidFill>
                <a:latin typeface="맑은 고딕"/>
              </a:defRPr>
            </a:pPr>
            <a:r>
              <a:t>졸음쉼터</a:t>
            </a:r>
          </a:p>
        </p:txBody>
      </p:sp>
      <p:sp>
        <p:nvSpPr>
          <p:cNvPr id="16" name="TextBox 15"/>
          <p:cNvSpPr txBox="1"/>
          <p:nvPr/>
        </p:nvSpPr>
        <p:spPr>
          <a:xfrm>
            <a:off x="594360" y="3337560"/>
            <a:ext cx="6766560" cy="1645920"/>
          </a:xfrm>
          <a:prstGeom prst="rect">
            <a:avLst/>
          </a:prstGeom>
          <a:noFill/>
        </p:spPr>
        <p:txBody>
          <a:bodyPr wrap="square" lIns="18288" tIns="18288" rIns="18288">
            <a:spAutoFit/>
          </a:bodyPr>
          <a:lstStyle/>
          <a:p>
            <a:pPr>
              <a:spcAft>
                <a:spcPts val="1000"/>
              </a:spcAft>
              <a:defRPr sz="2000" b="0">
                <a:solidFill>
                  <a:srgbClr val="26364A"/>
                </a:solidFill>
                <a:latin typeface="맑은 고딕"/>
              </a:defRPr>
            </a:pPr>
            <a:r>
              <a:t>한국도로공사  ·  기준정보 / 음식 / 브랜드 / 시설</a:t>
            </a:r>
          </a:p>
          <a:p>
            <a:pPr>
              <a:spcAft>
                <a:spcPts val="1000"/>
              </a:spcAft>
              <a:defRPr sz="2000" b="0">
                <a:solidFill>
                  <a:srgbClr val="26364A"/>
                </a:solidFill>
                <a:latin typeface="맑은 고딕"/>
              </a:defRPr>
            </a:pPr>
            <a:r>
              <a:t>공공데이터포털  ·  쉼터 / 주차 / 과거 이용량</a:t>
            </a:r>
          </a:p>
          <a:p>
            <a:pPr>
              <a:spcAft>
                <a:spcPts val="1000"/>
              </a:spcAft>
              <a:defRPr sz="2000" b="0">
                <a:solidFill>
                  <a:srgbClr val="26364A"/>
                </a:solidFill>
                <a:latin typeface="맑은 고딕"/>
              </a:defRPr>
            </a:pPr>
            <a:r>
              <a:t>카카오  ·  지도 / 장소 검색 / 자동차 경로</a:t>
            </a:r>
          </a:p>
        </p:txBody>
      </p:sp>
      <p:sp>
        <p:nvSpPr>
          <p:cNvPr id="17" name="Rounded Rectangle 16"/>
          <p:cNvSpPr/>
          <p:nvPr/>
        </p:nvSpPr>
        <p:spPr>
          <a:xfrm>
            <a:off x="7543800" y="1691640"/>
            <a:ext cx="4114800" cy="4480560"/>
          </a:xfrm>
          <a:prstGeom prst="roundRect">
            <a:avLst/>
          </a:prstGeom>
          <a:solidFill>
            <a:srgbClr val="20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1920240"/>
            <a:ext cx="3657600" cy="457200"/>
          </a:xfrm>
          <a:prstGeom prst="rect">
            <a:avLst/>
          </a:prstGeom>
          <a:noFill/>
        </p:spPr>
        <p:txBody>
          <a:bodyPr wrap="square" lIns="18288" tIns="18288" rIns="18288">
            <a:spAutoFit/>
          </a:bodyPr>
          <a:lstStyle/>
          <a:p>
            <a:pPr>
              <a:spcAft>
                <a:spcPts val="1000"/>
              </a:spcAft>
              <a:defRPr sz="1800" b="1">
                <a:solidFill>
                  <a:srgbClr val="FFFFFF"/>
                </a:solidFill>
                <a:latin typeface="맑은 고딕"/>
              </a:defRPr>
            </a:pPr>
            <a:r>
              <a:t>실제 응답 예시 · 죽전(서울)</a:t>
            </a:r>
          </a:p>
        </p:txBody>
      </p:sp>
      <p:sp>
        <p:nvSpPr>
          <p:cNvPr id="19" name="TextBox 18"/>
          <p:cNvSpPr txBox="1"/>
          <p:nvPr/>
        </p:nvSpPr>
        <p:spPr>
          <a:xfrm>
            <a:off x="7772400" y="2697480"/>
            <a:ext cx="3657600" cy="2926080"/>
          </a:xfrm>
          <a:prstGeom prst="rect">
            <a:avLst/>
          </a:prstGeom>
          <a:noFill/>
        </p:spPr>
        <p:txBody>
          <a:bodyPr wrap="square" lIns="18288" tIns="18288" rIns="18288">
            <a:spAutoFit/>
          </a:bodyPr>
          <a:lstStyle/>
          <a:p>
            <a:pPr>
              <a:spcAft>
                <a:spcPts val="1000"/>
              </a:spcAft>
              <a:defRPr sz="2100" b="0">
                <a:solidFill>
                  <a:srgbClr val="FFFFFF"/>
                </a:solidFill>
                <a:latin typeface="맑은 고딕"/>
              </a:defRPr>
            </a:pPr>
            <a:r>
              <a:t>주차면 수  223면</a:t>
            </a:r>
          </a:p>
          <a:p>
            <a:pPr>
              <a:spcAft>
                <a:spcPts val="1000"/>
              </a:spcAft>
              <a:defRPr sz="2100" b="0">
                <a:solidFill>
                  <a:srgbClr val="FFFFFF"/>
                </a:solidFill>
                <a:latin typeface="맑은 고딕"/>
              </a:defRPr>
            </a:pPr>
            <a:r>
              <a:t>소형  147 / 대형  68</a:t>
            </a:r>
          </a:p>
          <a:p>
            <a:pPr>
              <a:spcAft>
                <a:spcPts val="1000"/>
              </a:spcAft>
              <a:defRPr sz="2100" b="0">
                <a:solidFill>
                  <a:srgbClr val="FFFFFF"/>
                </a:solidFill>
                <a:latin typeface="맑은 고딕"/>
              </a:defRPr>
            </a:pPr>
            <a:r>
              <a:t>장애인 전용  8</a:t>
            </a:r>
          </a:p>
          <a:p>
            <a:pPr>
              <a:spcAft>
                <a:spcPts val="1000"/>
              </a:spcAft>
              <a:defRPr sz="2100" b="0">
                <a:solidFill>
                  <a:srgbClr val="FFFFFF"/>
                </a:solidFill>
                <a:latin typeface="맑은 고딕"/>
              </a:defRPr>
            </a:pPr>
            <a:endParaRPr/>
          </a:p>
          <a:p>
            <a:pPr>
              <a:spcAft>
                <a:spcPts val="1000"/>
              </a:spcAft>
              <a:defRPr sz="2100" b="0">
                <a:solidFill>
                  <a:srgbClr val="FFFFFF"/>
                </a:solidFill>
                <a:latin typeface="맑은 고딕"/>
              </a:defRPr>
            </a:pPr>
            <a:r>
              <a:t>자료 기준  2026-07-31</a:t>
            </a:r>
          </a:p>
          <a:p>
            <a:pPr>
              <a:spcAft>
                <a:spcPts val="1000"/>
              </a:spcAft>
              <a:defRPr sz="2100" b="0">
                <a:solidFill>
                  <a:srgbClr val="FFFFFF"/>
                </a:solidFill>
                <a:latin typeface="맑은 고딕"/>
              </a:defRPr>
            </a:pPr>
            <a:r>
              <a:t>조회 확인  2026-10-28</a:t>
            </a:r>
          </a:p>
        </p:txBody>
      </p:sp>
      <p:sp>
        <p:nvSpPr>
          <p:cNvPr id="20" name="TextBox 19"/>
          <p:cNvSpPr txBox="1"/>
          <p:nvPr/>
        </p:nvSpPr>
        <p:spPr>
          <a:xfrm>
            <a:off x="594360" y="5623560"/>
            <a:ext cx="6675120" cy="457200"/>
          </a:xfrm>
          <a:prstGeom prst="rect">
            <a:avLst/>
          </a:prstGeom>
          <a:noFill/>
        </p:spPr>
        <p:txBody>
          <a:bodyPr wrap="square" lIns="18288" tIns="18288" rIns="18288">
            <a:spAutoFit/>
          </a:bodyPr>
          <a:lstStyle/>
          <a:p>
            <a:pPr>
              <a:spcAft>
                <a:spcPts val="1000"/>
              </a:spcAft>
              <a:defRPr sz="1300" b="0">
                <a:solidFill>
                  <a:srgbClr val="708097"/>
                </a:solidFill>
                <a:latin typeface="맑은 고딕"/>
              </a:defRPr>
            </a:pPr>
            <a:r>
              <a:t>수량은 조회 시점 기준 · 등록 정보이며 실시간 상태와 다를 수 있습니다.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05840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03 / CORE EXPERIENCE</a:t>
            </a:r>
          </a:p>
        </p:txBody>
      </p:sp>
      <p:sp>
        <p:nvSpPr>
          <p:cNvPr id="3" name="TextBox 2"/>
          <p:cNvSpPr txBox="1"/>
          <p:nvPr/>
        </p:nvSpPr>
        <p:spPr>
          <a:xfrm>
            <a:off x="502920" y="713232"/>
            <a:ext cx="11155680" cy="731520"/>
          </a:xfrm>
          <a:prstGeom prst="rect">
            <a:avLst/>
          </a:prstGeom>
          <a:noFill/>
        </p:spPr>
        <p:txBody>
          <a:bodyPr wrap="square" lIns="18288" tIns="18288" rIns="18288">
            <a:spAutoFit/>
          </a:bodyPr>
          <a:lstStyle/>
          <a:p>
            <a:pPr>
              <a:spcAft>
                <a:spcPts val="1000"/>
              </a:spcAft>
              <a:defRPr sz="2900" b="1">
                <a:solidFill>
                  <a:srgbClr val="20304B"/>
                </a:solidFill>
                <a:latin typeface="맑은 고딕"/>
              </a:defRPr>
            </a:pPr>
            <a:r>
              <a:t>찾기 · 확인하기 · 비교하기로 이어지는 사용 흐름</a:t>
            </a:r>
          </a:p>
        </p:txBody>
      </p:sp>
      <p:sp>
        <p:nvSpPr>
          <p:cNvPr id="4" name="Rounded Rectangle 3"/>
          <p:cNvSpPr/>
          <p:nvPr/>
        </p:nvSpPr>
        <p:spPr>
          <a:xfrm>
            <a:off x="502920" y="6519672"/>
            <a:ext cx="11155680" cy="10972"/>
          </a:xfrm>
          <a:prstGeom prst="roundRect">
            <a:avLst/>
          </a:prstGeom>
          <a:solidFill>
            <a:srgbClr val="DC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601968"/>
            <a:ext cx="9144000" cy="182880"/>
          </a:xfrm>
          <a:prstGeom prst="rect">
            <a:avLst/>
          </a:prstGeom>
          <a:noFill/>
        </p:spPr>
        <p:txBody>
          <a:bodyPr wrap="square" lIns="18288" tIns="18288" rIns="18288">
            <a:spAutoFit/>
          </a:bodyPr>
          <a:lstStyle/>
          <a:p>
            <a:pPr>
              <a:spcAft>
                <a:spcPts val="1000"/>
              </a:spcAft>
              <a:defRPr sz="900" b="0">
                <a:solidFill>
                  <a:srgbClr val="708097"/>
                </a:solidFill>
                <a:latin typeface="맑은 고딕"/>
              </a:defRPr>
            </a:pPr>
            <a:r>
              <a:t>휴게길  ·  김수종 / 202395007</a:t>
            </a:r>
          </a:p>
        </p:txBody>
      </p:sp>
      <p:sp>
        <p:nvSpPr>
          <p:cNvPr id="6" name="TextBox 5"/>
          <p:cNvSpPr txBox="1"/>
          <p:nvPr/>
        </p:nvSpPr>
        <p:spPr>
          <a:xfrm>
            <a:off x="11064240" y="6565392"/>
            <a:ext cx="54864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04</a:t>
            </a:r>
          </a:p>
        </p:txBody>
      </p:sp>
      <p:pic>
        <p:nvPicPr>
          <p:cNvPr id="7" name="Picture 6" descr="route-result.png"/>
          <p:cNvPicPr>
            <a:picLocks noChangeAspect="1"/>
          </p:cNvPicPr>
          <p:nvPr/>
        </p:nvPicPr>
        <p:blipFill>
          <a:blip r:embed="rId3"/>
          <a:stretch>
            <a:fillRect/>
          </a:stretch>
        </p:blipFill>
        <p:spPr>
          <a:xfrm>
            <a:off x="1001312" y="1645920"/>
            <a:ext cx="6501294" cy="4526280"/>
          </a:xfrm>
          <a:prstGeom prst="rect">
            <a:avLst/>
          </a:prstGeom>
        </p:spPr>
      </p:pic>
      <p:sp>
        <p:nvSpPr>
          <p:cNvPr id="8" name="Rounded Rectangle 7"/>
          <p:cNvSpPr/>
          <p:nvPr/>
        </p:nvSpPr>
        <p:spPr>
          <a:xfrm>
            <a:off x="8229600" y="1737360"/>
            <a:ext cx="342900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600" y="1737360"/>
            <a:ext cx="50292" cy="1280160"/>
          </a:xfrm>
          <a:prstGeom prst="roundRect">
            <a:avLst/>
          </a:prstGeom>
          <a:solidFill>
            <a:srgbClr val="47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30768" y="1920240"/>
            <a:ext cx="3063240" cy="548640"/>
          </a:xfrm>
          <a:prstGeom prst="rect">
            <a:avLst/>
          </a:prstGeom>
          <a:noFill/>
        </p:spPr>
        <p:txBody>
          <a:bodyPr wrap="square" lIns="18288" tIns="18288" rIns="18288">
            <a:spAutoFit/>
          </a:bodyPr>
          <a:lstStyle/>
          <a:p>
            <a:pPr>
              <a:spcAft>
                <a:spcPts val="1000"/>
              </a:spcAft>
              <a:defRPr sz="2100" b="1">
                <a:solidFill>
                  <a:srgbClr val="20304B"/>
                </a:solidFill>
                <a:latin typeface="맑은 고딕"/>
              </a:defRPr>
            </a:pPr>
            <a:r>
              <a:t>경로에 맞게 찾기</a:t>
            </a:r>
          </a:p>
        </p:txBody>
      </p:sp>
      <p:sp>
        <p:nvSpPr>
          <p:cNvPr id="11" name="TextBox 10"/>
          <p:cNvSpPr txBox="1"/>
          <p:nvPr/>
        </p:nvSpPr>
        <p:spPr>
          <a:xfrm>
            <a:off x="8430768" y="2606039"/>
            <a:ext cx="3017520" cy="411479"/>
          </a:xfrm>
          <a:prstGeom prst="rect">
            <a:avLst/>
          </a:prstGeom>
          <a:noFill/>
        </p:spPr>
        <p:txBody>
          <a:bodyPr wrap="square" lIns="18288" tIns="18288" rIns="18288">
            <a:spAutoFit/>
          </a:bodyPr>
          <a:lstStyle/>
          <a:p>
            <a:pPr>
              <a:spcAft>
                <a:spcPts val="1000"/>
              </a:spcAft>
              <a:defRPr sz="1700" b="0">
                <a:solidFill>
                  <a:srgbClr val="708097"/>
                </a:solidFill>
                <a:latin typeface="맑은 고딕"/>
              </a:defRPr>
            </a:pPr>
            <a:r>
              <a:t>고속도로 · 방향 · 휴식 지점</a:t>
            </a:r>
          </a:p>
        </p:txBody>
      </p:sp>
      <p:sp>
        <p:nvSpPr>
          <p:cNvPr id="12" name="Rounded Rectangle 11"/>
          <p:cNvSpPr/>
          <p:nvPr/>
        </p:nvSpPr>
        <p:spPr>
          <a:xfrm>
            <a:off x="8229600" y="3200400"/>
            <a:ext cx="342900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229600" y="3200400"/>
            <a:ext cx="50292" cy="1280160"/>
          </a:xfrm>
          <a:prstGeom prst="roundRect">
            <a:avLst/>
          </a:prstGeom>
          <a:solidFill>
            <a:srgbClr val="47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30768" y="3383280"/>
            <a:ext cx="3063240" cy="548640"/>
          </a:xfrm>
          <a:prstGeom prst="rect">
            <a:avLst/>
          </a:prstGeom>
          <a:noFill/>
        </p:spPr>
        <p:txBody>
          <a:bodyPr wrap="square" lIns="18288" tIns="18288" rIns="18288">
            <a:spAutoFit/>
          </a:bodyPr>
          <a:lstStyle/>
          <a:p>
            <a:pPr>
              <a:spcAft>
                <a:spcPts val="1000"/>
              </a:spcAft>
              <a:defRPr sz="2100" b="1">
                <a:solidFill>
                  <a:srgbClr val="20304B"/>
                </a:solidFill>
                <a:latin typeface="맑은 고딕"/>
              </a:defRPr>
            </a:pPr>
            <a:r>
              <a:t>방문 전에 확인하기</a:t>
            </a:r>
          </a:p>
        </p:txBody>
      </p:sp>
      <p:sp>
        <p:nvSpPr>
          <p:cNvPr id="15" name="TextBox 14"/>
          <p:cNvSpPr txBox="1"/>
          <p:nvPr/>
        </p:nvSpPr>
        <p:spPr>
          <a:xfrm>
            <a:off x="8430768" y="4069080"/>
            <a:ext cx="3017520" cy="411479"/>
          </a:xfrm>
          <a:prstGeom prst="rect">
            <a:avLst/>
          </a:prstGeom>
          <a:noFill/>
        </p:spPr>
        <p:txBody>
          <a:bodyPr wrap="square" lIns="18288" tIns="18288" rIns="18288">
            <a:spAutoFit/>
          </a:bodyPr>
          <a:lstStyle/>
          <a:p>
            <a:pPr>
              <a:spcAft>
                <a:spcPts val="1000"/>
              </a:spcAft>
              <a:defRPr sz="1700" b="0">
                <a:solidFill>
                  <a:srgbClr val="708097"/>
                </a:solidFill>
                <a:latin typeface="맑은 고딕"/>
              </a:defRPr>
            </a:pPr>
            <a:r>
              <a:t>음식 · 브랜드 · 시설 · 위치</a:t>
            </a:r>
          </a:p>
        </p:txBody>
      </p:sp>
      <p:sp>
        <p:nvSpPr>
          <p:cNvPr id="16" name="Rounded Rectangle 15"/>
          <p:cNvSpPr/>
          <p:nvPr/>
        </p:nvSpPr>
        <p:spPr>
          <a:xfrm>
            <a:off x="8229600" y="4663440"/>
            <a:ext cx="342900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229600" y="4663440"/>
            <a:ext cx="50292" cy="1280160"/>
          </a:xfrm>
          <a:prstGeom prst="roundRect">
            <a:avLst/>
          </a:prstGeom>
          <a:solidFill>
            <a:srgbClr val="47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30768" y="4846320"/>
            <a:ext cx="3063240" cy="548640"/>
          </a:xfrm>
          <a:prstGeom prst="rect">
            <a:avLst/>
          </a:prstGeom>
          <a:noFill/>
        </p:spPr>
        <p:txBody>
          <a:bodyPr wrap="square" lIns="18288" tIns="18288" rIns="18288">
            <a:spAutoFit/>
          </a:bodyPr>
          <a:lstStyle/>
          <a:p>
            <a:pPr>
              <a:spcAft>
                <a:spcPts val="1000"/>
              </a:spcAft>
              <a:defRPr sz="2100" b="1">
                <a:solidFill>
                  <a:srgbClr val="20304B"/>
                </a:solidFill>
                <a:latin typeface="맑은 고딕"/>
              </a:defRPr>
            </a:pPr>
            <a:r>
              <a:t>같은 기준으로 비교하기</a:t>
            </a:r>
          </a:p>
        </p:txBody>
      </p:sp>
      <p:sp>
        <p:nvSpPr>
          <p:cNvPr id="19" name="TextBox 18"/>
          <p:cNvSpPr txBox="1"/>
          <p:nvPr/>
        </p:nvSpPr>
        <p:spPr>
          <a:xfrm>
            <a:off x="8430768" y="5532120"/>
            <a:ext cx="3017520" cy="411479"/>
          </a:xfrm>
          <a:prstGeom prst="rect">
            <a:avLst/>
          </a:prstGeom>
          <a:noFill/>
        </p:spPr>
        <p:txBody>
          <a:bodyPr wrap="square" lIns="18288" tIns="18288" rIns="18288">
            <a:spAutoFit/>
          </a:bodyPr>
          <a:lstStyle/>
          <a:p>
            <a:pPr>
              <a:spcAft>
                <a:spcPts val="1000"/>
              </a:spcAft>
              <a:defRPr sz="1700" b="0">
                <a:solidFill>
                  <a:srgbClr val="708097"/>
                </a:solidFill>
                <a:latin typeface="맑은 고딕"/>
              </a:defRPr>
            </a:pPr>
            <a:r>
              <a:t>동일 음식 가격 · 주차 규모</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05840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04 / AI USE &amp; VERIFICATION</a:t>
            </a:r>
          </a:p>
        </p:txBody>
      </p:sp>
      <p:sp>
        <p:nvSpPr>
          <p:cNvPr id="3" name="TextBox 2"/>
          <p:cNvSpPr txBox="1"/>
          <p:nvPr/>
        </p:nvSpPr>
        <p:spPr>
          <a:xfrm>
            <a:off x="502920" y="713232"/>
            <a:ext cx="11155680" cy="731520"/>
          </a:xfrm>
          <a:prstGeom prst="rect">
            <a:avLst/>
          </a:prstGeom>
          <a:noFill/>
        </p:spPr>
        <p:txBody>
          <a:bodyPr wrap="square" lIns="18288" tIns="18288" rIns="18288">
            <a:spAutoFit/>
          </a:bodyPr>
          <a:lstStyle/>
          <a:p>
            <a:pPr>
              <a:spcAft>
                <a:spcPts val="1000"/>
              </a:spcAft>
              <a:defRPr sz="2900" b="1">
                <a:solidFill>
                  <a:srgbClr val="20304B"/>
                </a:solidFill>
                <a:latin typeface="맑은 고딕"/>
              </a:defRPr>
            </a:pPr>
            <a:r>
              <a:t>생성형 AI는 개발 보조에 활용했습니다</a:t>
            </a:r>
          </a:p>
        </p:txBody>
      </p:sp>
      <p:sp>
        <p:nvSpPr>
          <p:cNvPr id="4" name="Rounded Rectangle 3"/>
          <p:cNvSpPr/>
          <p:nvPr/>
        </p:nvSpPr>
        <p:spPr>
          <a:xfrm>
            <a:off x="502920" y="6519672"/>
            <a:ext cx="11155680" cy="10972"/>
          </a:xfrm>
          <a:prstGeom prst="roundRect">
            <a:avLst/>
          </a:prstGeom>
          <a:solidFill>
            <a:srgbClr val="DC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601968"/>
            <a:ext cx="9144000" cy="182880"/>
          </a:xfrm>
          <a:prstGeom prst="rect">
            <a:avLst/>
          </a:prstGeom>
          <a:noFill/>
        </p:spPr>
        <p:txBody>
          <a:bodyPr wrap="square" lIns="18288" tIns="18288" rIns="18288">
            <a:spAutoFit/>
          </a:bodyPr>
          <a:lstStyle/>
          <a:p>
            <a:pPr>
              <a:spcAft>
                <a:spcPts val="1000"/>
              </a:spcAft>
              <a:defRPr sz="900" b="0">
                <a:solidFill>
                  <a:srgbClr val="708097"/>
                </a:solidFill>
                <a:latin typeface="맑은 고딕"/>
              </a:defRPr>
            </a:pPr>
            <a:r>
              <a:t>휴게길  ·  김수종 / 202395007</a:t>
            </a:r>
          </a:p>
        </p:txBody>
      </p:sp>
      <p:sp>
        <p:nvSpPr>
          <p:cNvPr id="6" name="TextBox 5"/>
          <p:cNvSpPr txBox="1"/>
          <p:nvPr/>
        </p:nvSpPr>
        <p:spPr>
          <a:xfrm>
            <a:off x="11064240" y="6565392"/>
            <a:ext cx="54864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05</a:t>
            </a:r>
          </a:p>
        </p:txBody>
      </p:sp>
      <p:sp>
        <p:nvSpPr>
          <p:cNvPr id="7" name="Rounded Rectangle 6"/>
          <p:cNvSpPr/>
          <p:nvPr/>
        </p:nvSpPr>
        <p:spPr>
          <a:xfrm>
            <a:off x="502920" y="1737360"/>
            <a:ext cx="681228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737360"/>
            <a:ext cx="50292" cy="1828800"/>
          </a:xfrm>
          <a:prstGeom prst="roundRect">
            <a:avLst/>
          </a:prstGeom>
          <a:solidFill>
            <a:srgbClr val="47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1920240"/>
            <a:ext cx="6446520" cy="548640"/>
          </a:xfrm>
          <a:prstGeom prst="rect">
            <a:avLst/>
          </a:prstGeom>
          <a:noFill/>
        </p:spPr>
        <p:txBody>
          <a:bodyPr wrap="square" lIns="18288" tIns="18288" rIns="18288">
            <a:spAutoFit/>
          </a:bodyPr>
          <a:lstStyle/>
          <a:p>
            <a:pPr>
              <a:spcAft>
                <a:spcPts val="1000"/>
              </a:spcAft>
              <a:defRPr sz="2100" b="1">
                <a:solidFill>
                  <a:srgbClr val="20304B"/>
                </a:solidFill>
                <a:latin typeface="맑은 고딕"/>
              </a:defRPr>
            </a:pPr>
            <a:r>
              <a:t>실제 개발 요청 ①</a:t>
            </a:r>
          </a:p>
        </p:txBody>
      </p:sp>
      <p:sp>
        <p:nvSpPr>
          <p:cNvPr id="10" name="TextBox 9"/>
          <p:cNvSpPr txBox="1"/>
          <p:nvPr/>
        </p:nvSpPr>
        <p:spPr>
          <a:xfrm>
            <a:off x="704088" y="2606039"/>
            <a:ext cx="6400800" cy="960120"/>
          </a:xfrm>
          <a:prstGeom prst="rect">
            <a:avLst/>
          </a:prstGeom>
          <a:noFill/>
        </p:spPr>
        <p:txBody>
          <a:bodyPr wrap="square" lIns="18288" tIns="18288" rIns="18288">
            <a:spAutoFit/>
          </a:bodyPr>
          <a:lstStyle/>
          <a:p>
            <a:pPr>
              <a:spcAft>
                <a:spcPts val="1000"/>
              </a:spcAft>
              <a:defRPr sz="1700" b="0">
                <a:solidFill>
                  <a:srgbClr val="708097"/>
                </a:solidFill>
                <a:latin typeface="맑은 고딕"/>
              </a:defRPr>
            </a:pPr>
            <a:r>
              <a:t>“사용자가 사용하기 쉽도록 … 무조건 반응형으로 만들어야 해.”</a:t>
            </a:r>
          </a:p>
        </p:txBody>
      </p:sp>
      <p:sp>
        <p:nvSpPr>
          <p:cNvPr id="11" name="Rounded Rectangle 10"/>
          <p:cNvSpPr/>
          <p:nvPr/>
        </p:nvSpPr>
        <p:spPr>
          <a:xfrm>
            <a:off x="502920" y="3749039"/>
            <a:ext cx="681228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2920" y="3749039"/>
            <a:ext cx="50292" cy="1920240"/>
          </a:xfrm>
          <a:prstGeom prst="roundRect">
            <a:avLst/>
          </a:prstGeom>
          <a:solidFill>
            <a:srgbClr val="47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4088" y="3931920"/>
            <a:ext cx="6446520" cy="548640"/>
          </a:xfrm>
          <a:prstGeom prst="rect">
            <a:avLst/>
          </a:prstGeom>
          <a:noFill/>
        </p:spPr>
        <p:txBody>
          <a:bodyPr wrap="square" lIns="18288" tIns="18288" rIns="18288">
            <a:spAutoFit/>
          </a:bodyPr>
          <a:lstStyle/>
          <a:p>
            <a:pPr>
              <a:spcAft>
                <a:spcPts val="1000"/>
              </a:spcAft>
              <a:defRPr sz="2100" b="1">
                <a:solidFill>
                  <a:srgbClr val="20304B"/>
                </a:solidFill>
                <a:latin typeface="맑은 고딕"/>
              </a:defRPr>
            </a:pPr>
            <a:r>
              <a:t>실제 개발 요청 ②</a:t>
            </a:r>
          </a:p>
        </p:txBody>
      </p:sp>
      <p:sp>
        <p:nvSpPr>
          <p:cNvPr id="14" name="TextBox 13"/>
          <p:cNvSpPr txBox="1"/>
          <p:nvPr/>
        </p:nvSpPr>
        <p:spPr>
          <a:xfrm>
            <a:off x="704088" y="4617720"/>
            <a:ext cx="6400800" cy="1051560"/>
          </a:xfrm>
          <a:prstGeom prst="rect">
            <a:avLst/>
          </a:prstGeom>
          <a:noFill/>
        </p:spPr>
        <p:txBody>
          <a:bodyPr wrap="square" lIns="18288" tIns="18288" rIns="18288">
            <a:spAutoFit/>
          </a:bodyPr>
          <a:lstStyle/>
          <a:p>
            <a:pPr>
              <a:spcAft>
                <a:spcPts val="1000"/>
              </a:spcAft>
              <a:defRPr sz="1700" b="0">
                <a:solidFill>
                  <a:srgbClr val="708097"/>
                </a:solidFill>
                <a:latin typeface="맑은 고딕"/>
              </a:defRPr>
            </a:pPr>
            <a:r>
              <a:t>“출발-도착을 입력하면 어떤 고속도로를 타는지 …</a:t>
            </a:r>
          </a:p>
          <a:p>
            <a:pPr>
              <a:spcAft>
                <a:spcPts val="1000"/>
              </a:spcAft>
              <a:defRPr sz="1700" b="0">
                <a:solidFill>
                  <a:srgbClr val="708097"/>
                </a:solidFill>
                <a:latin typeface="맑은 고딕"/>
              </a:defRPr>
            </a:pPr>
            <a:r>
              <a:t>휴게소 … 졸음쉼터 … 정보를 출력해줘.”</a:t>
            </a:r>
          </a:p>
        </p:txBody>
      </p:sp>
      <p:sp>
        <p:nvSpPr>
          <p:cNvPr id="15" name="Rounded Rectangle 14"/>
          <p:cNvSpPr/>
          <p:nvPr/>
        </p:nvSpPr>
        <p:spPr>
          <a:xfrm>
            <a:off x="7589520" y="1737360"/>
            <a:ext cx="4069080" cy="3931920"/>
          </a:xfrm>
          <a:prstGeom prst="roundRect">
            <a:avLst/>
          </a:prstGeom>
          <a:solidFill>
            <a:srgbClr val="20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0" y="2057400"/>
            <a:ext cx="3520440" cy="2560320"/>
          </a:xfrm>
          <a:prstGeom prst="rect">
            <a:avLst/>
          </a:prstGeom>
          <a:noFill/>
        </p:spPr>
        <p:txBody>
          <a:bodyPr wrap="square" lIns="18288" tIns="18288" rIns="18288">
            <a:spAutoFit/>
          </a:bodyPr>
          <a:lstStyle/>
          <a:p>
            <a:pPr>
              <a:spcAft>
                <a:spcPts val="1000"/>
              </a:spcAft>
              <a:defRPr sz="2300" b="1">
                <a:solidFill>
                  <a:srgbClr val="FFFFFF"/>
                </a:solidFill>
                <a:latin typeface="맑은 고딕"/>
              </a:defRPr>
            </a:pPr>
            <a:r>
              <a:t>요구사항 입력</a:t>
            </a:r>
          </a:p>
          <a:p>
            <a:pPr>
              <a:spcAft>
                <a:spcPts val="1000"/>
              </a:spcAft>
              <a:defRPr sz="2300" b="1">
                <a:solidFill>
                  <a:srgbClr val="FFFFFF"/>
                </a:solidFill>
                <a:latin typeface="맑은 고딕"/>
              </a:defRPr>
            </a:pPr>
            <a:r>
              <a:t>↓</a:t>
            </a:r>
          </a:p>
          <a:p>
            <a:pPr>
              <a:spcAft>
                <a:spcPts val="1000"/>
              </a:spcAft>
              <a:defRPr sz="2300" b="1">
                <a:solidFill>
                  <a:srgbClr val="FFFFFF"/>
                </a:solidFill>
                <a:latin typeface="맑은 고딕"/>
              </a:defRPr>
            </a:pPr>
            <a:r>
              <a:t>Codex · 코드 / UI 수정</a:t>
            </a:r>
          </a:p>
          <a:p>
            <a:pPr>
              <a:spcAft>
                <a:spcPts val="1000"/>
              </a:spcAft>
              <a:defRPr sz="2300" b="1">
                <a:solidFill>
                  <a:srgbClr val="FFFFFF"/>
                </a:solidFill>
                <a:latin typeface="맑은 고딕"/>
              </a:defRPr>
            </a:pPr>
            <a:r>
              <a:t>↓</a:t>
            </a:r>
          </a:p>
          <a:p>
            <a:pPr>
              <a:spcAft>
                <a:spcPts val="1000"/>
              </a:spcAft>
              <a:defRPr sz="2300" b="1">
                <a:solidFill>
                  <a:srgbClr val="FFFFFF"/>
                </a:solidFill>
                <a:latin typeface="맑은 고딕"/>
              </a:defRPr>
            </a:pPr>
            <a:r>
              <a:t>실제 응답 · 테스트 확인</a:t>
            </a:r>
          </a:p>
        </p:txBody>
      </p:sp>
      <p:sp>
        <p:nvSpPr>
          <p:cNvPr id="17" name="TextBox 16"/>
          <p:cNvSpPr txBox="1"/>
          <p:nvPr/>
        </p:nvSpPr>
        <p:spPr>
          <a:xfrm>
            <a:off x="7863840" y="5029200"/>
            <a:ext cx="3566160" cy="457200"/>
          </a:xfrm>
          <a:prstGeom prst="rect">
            <a:avLst/>
          </a:prstGeom>
          <a:noFill/>
        </p:spPr>
        <p:txBody>
          <a:bodyPr wrap="square" lIns="18288" tIns="18288" rIns="18288">
            <a:spAutoFit/>
          </a:bodyPr>
          <a:lstStyle/>
          <a:p>
            <a:pPr>
              <a:spcAft>
                <a:spcPts val="1000"/>
              </a:spcAft>
              <a:defRPr sz="1500" b="1">
                <a:solidFill>
                  <a:srgbClr val="F0BC5E"/>
                </a:solidFill>
                <a:latin typeface="맑은 고딕"/>
              </a:defRPr>
            </a:pPr>
            <a:r>
              <a:t>앱 내부 AI 추천 기능은 미구현</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05840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05 / UI DESIGN</a:t>
            </a:r>
          </a:p>
        </p:txBody>
      </p:sp>
      <p:sp>
        <p:nvSpPr>
          <p:cNvPr id="3" name="TextBox 2"/>
          <p:cNvSpPr txBox="1"/>
          <p:nvPr/>
        </p:nvSpPr>
        <p:spPr>
          <a:xfrm>
            <a:off x="502920" y="713232"/>
            <a:ext cx="11155680" cy="731520"/>
          </a:xfrm>
          <a:prstGeom prst="rect">
            <a:avLst/>
          </a:prstGeom>
          <a:noFill/>
        </p:spPr>
        <p:txBody>
          <a:bodyPr wrap="square" lIns="18288" tIns="18288" rIns="18288">
            <a:spAutoFit/>
          </a:bodyPr>
          <a:lstStyle/>
          <a:p>
            <a:pPr>
              <a:spcAft>
                <a:spcPts val="1000"/>
              </a:spcAft>
              <a:defRPr sz="2900" b="1">
                <a:solidFill>
                  <a:srgbClr val="20304B"/>
                </a:solidFill>
                <a:latin typeface="맑은 고딕"/>
              </a:defRPr>
            </a:pPr>
            <a:r>
              <a:t>정보의 우선순위를 정리하고 모바일까지 맞췄습니다</a:t>
            </a:r>
          </a:p>
        </p:txBody>
      </p:sp>
      <p:sp>
        <p:nvSpPr>
          <p:cNvPr id="4" name="Rounded Rectangle 3"/>
          <p:cNvSpPr/>
          <p:nvPr/>
        </p:nvSpPr>
        <p:spPr>
          <a:xfrm>
            <a:off x="502920" y="6519672"/>
            <a:ext cx="11155680" cy="10972"/>
          </a:xfrm>
          <a:prstGeom prst="roundRect">
            <a:avLst/>
          </a:prstGeom>
          <a:solidFill>
            <a:srgbClr val="DC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601968"/>
            <a:ext cx="9144000" cy="182880"/>
          </a:xfrm>
          <a:prstGeom prst="rect">
            <a:avLst/>
          </a:prstGeom>
          <a:noFill/>
        </p:spPr>
        <p:txBody>
          <a:bodyPr wrap="square" lIns="18288" tIns="18288" rIns="18288">
            <a:spAutoFit/>
          </a:bodyPr>
          <a:lstStyle/>
          <a:p>
            <a:pPr>
              <a:spcAft>
                <a:spcPts val="1000"/>
              </a:spcAft>
              <a:defRPr sz="900" b="0">
                <a:solidFill>
                  <a:srgbClr val="708097"/>
                </a:solidFill>
                <a:latin typeface="맑은 고딕"/>
              </a:defRPr>
            </a:pPr>
            <a:r>
              <a:t>휴게길  ·  김수종 / 202395007</a:t>
            </a:r>
          </a:p>
        </p:txBody>
      </p:sp>
      <p:sp>
        <p:nvSpPr>
          <p:cNvPr id="6" name="TextBox 5"/>
          <p:cNvSpPr txBox="1"/>
          <p:nvPr/>
        </p:nvSpPr>
        <p:spPr>
          <a:xfrm>
            <a:off x="11064240" y="6565392"/>
            <a:ext cx="54864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06</a:t>
            </a:r>
          </a:p>
        </p:txBody>
      </p:sp>
      <p:sp>
        <p:nvSpPr>
          <p:cNvPr id="7" name="TextBox 6"/>
          <p:cNvSpPr txBox="1"/>
          <p:nvPr/>
        </p:nvSpPr>
        <p:spPr>
          <a:xfrm>
            <a:off x="562057" y="1368343"/>
            <a:ext cx="2743200" cy="295466"/>
          </a:xfrm>
          <a:prstGeom prst="rect">
            <a:avLst/>
          </a:prstGeom>
          <a:noFill/>
        </p:spPr>
        <p:txBody>
          <a:bodyPr wrap="square" lIns="18288" tIns="18288" rIns="18288">
            <a:spAutoFit/>
          </a:bodyPr>
          <a:lstStyle/>
          <a:p>
            <a:pPr>
              <a:spcAft>
                <a:spcPts val="1000"/>
              </a:spcAft>
              <a:defRPr sz="1500" b="1">
                <a:solidFill>
                  <a:srgbClr val="708097"/>
                </a:solidFill>
                <a:latin typeface="맑은 고딕"/>
              </a:defRPr>
            </a:pPr>
            <a:r>
              <a:rPr dirty="0" err="1"/>
              <a:t>초기</a:t>
            </a:r>
            <a:r>
              <a:rPr dirty="0"/>
              <a:t> </a:t>
            </a:r>
            <a:r>
              <a:rPr dirty="0" err="1"/>
              <a:t>구조</a:t>
            </a:r>
            <a:endParaRPr lang="en-US" dirty="0"/>
          </a:p>
        </p:txBody>
      </p:sp>
      <p:sp>
        <p:nvSpPr>
          <p:cNvPr id="14" name="TextBox 13"/>
          <p:cNvSpPr txBox="1"/>
          <p:nvPr/>
        </p:nvSpPr>
        <p:spPr>
          <a:xfrm>
            <a:off x="5677088" y="1358401"/>
            <a:ext cx="5486400" cy="365760"/>
          </a:xfrm>
          <a:prstGeom prst="rect">
            <a:avLst/>
          </a:prstGeom>
          <a:noFill/>
        </p:spPr>
        <p:txBody>
          <a:bodyPr wrap="square" lIns="18288" tIns="18288" rIns="18288">
            <a:spAutoFit/>
          </a:bodyPr>
          <a:lstStyle/>
          <a:p>
            <a:pPr>
              <a:spcAft>
                <a:spcPts val="1000"/>
              </a:spcAft>
              <a:defRPr sz="1500" b="1">
                <a:solidFill>
                  <a:srgbClr val="47858A"/>
                </a:solidFill>
                <a:latin typeface="맑은 고딕"/>
              </a:defRPr>
            </a:pPr>
            <a:r>
              <a:rPr dirty="0" err="1"/>
              <a:t>현재</a:t>
            </a:r>
            <a:r>
              <a:rPr dirty="0"/>
              <a:t> </a:t>
            </a:r>
            <a:r>
              <a:rPr dirty="0" err="1"/>
              <a:t>화면</a:t>
            </a:r>
            <a:r>
              <a:rPr dirty="0"/>
              <a:t> · </a:t>
            </a:r>
            <a:r>
              <a:rPr dirty="0" err="1"/>
              <a:t>브랜드</a:t>
            </a:r>
            <a:r>
              <a:rPr dirty="0"/>
              <a:t> </a:t>
            </a:r>
            <a:r>
              <a:rPr dirty="0" err="1"/>
              <a:t>정보</a:t>
            </a:r>
            <a:endParaRPr dirty="0"/>
          </a:p>
        </p:txBody>
      </p:sp>
      <p:pic>
        <p:nvPicPr>
          <p:cNvPr id="16" name="Picture 15" descr="mobile.png"/>
          <p:cNvPicPr>
            <a:picLocks noChangeAspect="1"/>
          </p:cNvPicPr>
          <p:nvPr/>
        </p:nvPicPr>
        <p:blipFill>
          <a:blip r:embed="rId3"/>
          <a:stretch>
            <a:fillRect/>
          </a:stretch>
        </p:blipFill>
        <p:spPr>
          <a:xfrm>
            <a:off x="9265677" y="1636820"/>
            <a:ext cx="2203716" cy="4769069"/>
          </a:xfrm>
          <a:prstGeom prst="rect">
            <a:avLst/>
          </a:prstGeom>
        </p:spPr>
      </p:pic>
      <p:pic>
        <p:nvPicPr>
          <p:cNvPr id="17" name="Picture 1">
            <a:extLst>
              <a:ext uri="{FF2B5EF4-FFF2-40B4-BE49-F238E27FC236}">
                <a16:creationId xmlns:a16="http://schemas.microsoft.com/office/drawing/2014/main" id="{BC106D33-8F3F-3615-354D-43C2A01C9539}"/>
              </a:ext>
            </a:extLst>
          </p:cNvPr>
          <p:cNvPicPr>
            <a:picLocks noChangeAspect="1"/>
          </p:cNvPicPr>
          <p:nvPr/>
        </p:nvPicPr>
        <p:blipFill>
          <a:blip r:embed="rId4"/>
          <a:stretch>
            <a:fillRect/>
          </a:stretch>
        </p:blipFill>
        <p:spPr>
          <a:xfrm>
            <a:off x="562057" y="1655064"/>
            <a:ext cx="4452766" cy="4854840"/>
          </a:xfrm>
          <a:prstGeom prst="rect">
            <a:avLst/>
          </a:prstGeom>
        </p:spPr>
      </p:pic>
      <p:pic>
        <p:nvPicPr>
          <p:cNvPr id="19" name="그림 18">
            <a:extLst>
              <a:ext uri="{FF2B5EF4-FFF2-40B4-BE49-F238E27FC236}">
                <a16:creationId xmlns:a16="http://schemas.microsoft.com/office/drawing/2014/main" id="{C6ED0841-08D7-9320-8740-2A189AAAF7FA}"/>
              </a:ext>
            </a:extLst>
          </p:cNvPr>
          <p:cNvPicPr>
            <a:picLocks noChangeAspect="1"/>
          </p:cNvPicPr>
          <p:nvPr/>
        </p:nvPicPr>
        <p:blipFill>
          <a:blip r:embed="rId5"/>
          <a:stretch>
            <a:fillRect/>
          </a:stretch>
        </p:blipFill>
        <p:spPr>
          <a:xfrm>
            <a:off x="5677088" y="1655064"/>
            <a:ext cx="3453730" cy="471509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05840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06 / LIVE DEMO · 2분 30초</a:t>
            </a:r>
          </a:p>
        </p:txBody>
      </p:sp>
      <p:sp>
        <p:nvSpPr>
          <p:cNvPr id="3" name="TextBox 2"/>
          <p:cNvSpPr txBox="1"/>
          <p:nvPr/>
        </p:nvSpPr>
        <p:spPr>
          <a:xfrm>
            <a:off x="502920" y="713232"/>
            <a:ext cx="11155680" cy="731520"/>
          </a:xfrm>
          <a:prstGeom prst="rect">
            <a:avLst/>
          </a:prstGeom>
          <a:noFill/>
        </p:spPr>
        <p:txBody>
          <a:bodyPr wrap="square" lIns="18288" tIns="18288" rIns="18288">
            <a:spAutoFit/>
          </a:bodyPr>
          <a:lstStyle/>
          <a:p>
            <a:pPr>
              <a:spcAft>
                <a:spcPts val="1000"/>
              </a:spcAft>
              <a:defRPr sz="2900" b="1">
                <a:solidFill>
                  <a:srgbClr val="20304B"/>
                </a:solidFill>
                <a:latin typeface="맑은 고딕"/>
              </a:defRPr>
            </a:pPr>
            <a:r>
              <a:t>실제 사용 흐름을 시연하겠습니다</a:t>
            </a:r>
          </a:p>
        </p:txBody>
      </p:sp>
      <p:sp>
        <p:nvSpPr>
          <p:cNvPr id="4" name="Rounded Rectangle 3"/>
          <p:cNvSpPr/>
          <p:nvPr/>
        </p:nvSpPr>
        <p:spPr>
          <a:xfrm>
            <a:off x="502920" y="6519672"/>
            <a:ext cx="11155680" cy="10972"/>
          </a:xfrm>
          <a:prstGeom prst="roundRect">
            <a:avLst/>
          </a:prstGeom>
          <a:solidFill>
            <a:srgbClr val="DC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601968"/>
            <a:ext cx="9144000" cy="182880"/>
          </a:xfrm>
          <a:prstGeom prst="rect">
            <a:avLst/>
          </a:prstGeom>
          <a:noFill/>
        </p:spPr>
        <p:txBody>
          <a:bodyPr wrap="square" lIns="18288" tIns="18288" rIns="18288">
            <a:spAutoFit/>
          </a:bodyPr>
          <a:lstStyle/>
          <a:p>
            <a:pPr>
              <a:spcAft>
                <a:spcPts val="1000"/>
              </a:spcAft>
              <a:defRPr sz="900" b="0">
                <a:solidFill>
                  <a:srgbClr val="708097"/>
                </a:solidFill>
                <a:latin typeface="맑은 고딕"/>
              </a:defRPr>
            </a:pPr>
            <a:r>
              <a:t>휴게길  ·  김수종 / 202395007</a:t>
            </a:r>
          </a:p>
        </p:txBody>
      </p:sp>
      <p:sp>
        <p:nvSpPr>
          <p:cNvPr id="6" name="TextBox 5"/>
          <p:cNvSpPr txBox="1"/>
          <p:nvPr/>
        </p:nvSpPr>
        <p:spPr>
          <a:xfrm>
            <a:off x="11064240" y="6565392"/>
            <a:ext cx="54864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07</a:t>
            </a:r>
          </a:p>
        </p:txBody>
      </p:sp>
      <p:pic>
        <p:nvPicPr>
          <p:cNvPr id="7" name="Picture 6" descr="route-result.png"/>
          <p:cNvPicPr>
            <a:picLocks noChangeAspect="1"/>
          </p:cNvPicPr>
          <p:nvPr/>
        </p:nvPicPr>
        <p:blipFill>
          <a:blip r:embed="rId3"/>
          <a:stretch>
            <a:fillRect/>
          </a:stretch>
        </p:blipFill>
        <p:spPr>
          <a:xfrm>
            <a:off x="1106881" y="1691640"/>
            <a:ext cx="6107276" cy="4251960"/>
          </a:xfrm>
          <a:prstGeom prst="rect">
            <a:avLst/>
          </a:prstGeom>
        </p:spPr>
      </p:pic>
      <p:sp>
        <p:nvSpPr>
          <p:cNvPr id="8" name="TextBox 7"/>
          <p:cNvSpPr txBox="1"/>
          <p:nvPr/>
        </p:nvSpPr>
        <p:spPr>
          <a:xfrm>
            <a:off x="8138160" y="1828800"/>
            <a:ext cx="3520440" cy="3200400"/>
          </a:xfrm>
          <a:prstGeom prst="rect">
            <a:avLst/>
          </a:prstGeom>
          <a:noFill/>
        </p:spPr>
        <p:txBody>
          <a:bodyPr wrap="square" lIns="18288" tIns="18288" rIns="18288">
            <a:spAutoFit/>
          </a:bodyPr>
          <a:lstStyle/>
          <a:p>
            <a:pPr>
              <a:spcAft>
                <a:spcPts val="1000"/>
              </a:spcAft>
              <a:defRPr sz="2100" b="1">
                <a:solidFill>
                  <a:srgbClr val="26364A"/>
                </a:solidFill>
                <a:latin typeface="맑은 고딕"/>
              </a:defRPr>
            </a:pPr>
            <a:r>
              <a:t>01  출발 · 도착 → 경로 검색</a:t>
            </a:r>
          </a:p>
          <a:p>
            <a:pPr>
              <a:spcAft>
                <a:spcPts val="1000"/>
              </a:spcAft>
              <a:defRPr sz="2100" b="1">
                <a:solidFill>
                  <a:srgbClr val="26364A"/>
                </a:solidFill>
                <a:latin typeface="맑은 고딕"/>
              </a:defRPr>
            </a:pPr>
            <a:r>
              <a:t>02  휴게소 상세 정보 확인</a:t>
            </a:r>
          </a:p>
          <a:p>
            <a:pPr>
              <a:spcAft>
                <a:spcPts val="1000"/>
              </a:spcAft>
              <a:defRPr sz="2100" b="1">
                <a:solidFill>
                  <a:srgbClr val="26364A"/>
                </a:solidFill>
                <a:latin typeface="맑은 고딕"/>
              </a:defRPr>
            </a:pPr>
            <a:r>
              <a:t>03  두 휴게소 비교</a:t>
            </a:r>
          </a:p>
          <a:p>
            <a:pPr>
              <a:spcAft>
                <a:spcPts val="1000"/>
              </a:spcAft>
              <a:defRPr sz="2100" b="1">
                <a:solidFill>
                  <a:srgbClr val="26364A"/>
                </a:solidFill>
                <a:latin typeface="맑은 고딕"/>
              </a:defRPr>
            </a:pPr>
            <a:r>
              <a:t>04  쉼터 위치 · 처음 화면</a:t>
            </a:r>
          </a:p>
        </p:txBody>
      </p:sp>
      <p:sp>
        <p:nvSpPr>
          <p:cNvPr id="9" name="Rounded Rectangle 8"/>
          <p:cNvSpPr/>
          <p:nvPr/>
        </p:nvSpPr>
        <p:spPr>
          <a:xfrm>
            <a:off x="8019403" y="5100524"/>
            <a:ext cx="3840480" cy="822960"/>
          </a:xfrm>
          <a:prstGeom prst="roundRect">
            <a:avLst/>
          </a:prstGeom>
          <a:solidFill>
            <a:srgbClr val="47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76979" y="5366968"/>
            <a:ext cx="4337074" cy="341632"/>
          </a:xfrm>
          <a:prstGeom prst="rect">
            <a:avLst/>
          </a:prstGeom>
          <a:noFill/>
        </p:spPr>
        <p:txBody>
          <a:bodyPr wrap="square" lIns="18288" tIns="18288" rIns="18288">
            <a:spAutoFit/>
          </a:bodyPr>
          <a:lstStyle/>
          <a:p>
            <a:pPr>
              <a:spcAft>
                <a:spcPts val="1000"/>
              </a:spcAft>
              <a:defRPr sz="1800" b="1">
                <a:solidFill>
                  <a:srgbClr val="FFFFFF"/>
                </a:solidFill>
                <a:latin typeface="맑은 고딕"/>
              </a:defRPr>
            </a:pPr>
            <a:r>
              <a:rPr lang="en-US" altLang="ko-KR" dirty="0"/>
              <a:t>https://rest-area-info.vercel.app</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05840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07 / STACK &amp; DEPLOYMENT</a:t>
            </a:r>
          </a:p>
        </p:txBody>
      </p:sp>
      <p:sp>
        <p:nvSpPr>
          <p:cNvPr id="3" name="TextBox 2"/>
          <p:cNvSpPr txBox="1"/>
          <p:nvPr/>
        </p:nvSpPr>
        <p:spPr>
          <a:xfrm>
            <a:off x="502920" y="713232"/>
            <a:ext cx="11155680" cy="731520"/>
          </a:xfrm>
          <a:prstGeom prst="rect">
            <a:avLst/>
          </a:prstGeom>
          <a:noFill/>
        </p:spPr>
        <p:txBody>
          <a:bodyPr wrap="square" lIns="18288" tIns="18288" rIns="18288">
            <a:spAutoFit/>
          </a:bodyPr>
          <a:lstStyle/>
          <a:p>
            <a:pPr>
              <a:spcAft>
                <a:spcPts val="1000"/>
              </a:spcAft>
              <a:defRPr sz="2900" b="1">
                <a:solidFill>
                  <a:srgbClr val="20304B"/>
                </a:solidFill>
                <a:latin typeface="맑은 고딕"/>
              </a:defRPr>
            </a:pPr>
            <a:r>
              <a:t>화면과 API를 분리해 운영할 수 있도록 구성했습니다</a:t>
            </a:r>
          </a:p>
        </p:txBody>
      </p:sp>
      <p:sp>
        <p:nvSpPr>
          <p:cNvPr id="4" name="Rounded Rectangle 3"/>
          <p:cNvSpPr/>
          <p:nvPr/>
        </p:nvSpPr>
        <p:spPr>
          <a:xfrm>
            <a:off x="502920" y="6519672"/>
            <a:ext cx="11155680" cy="10972"/>
          </a:xfrm>
          <a:prstGeom prst="roundRect">
            <a:avLst/>
          </a:prstGeom>
          <a:solidFill>
            <a:srgbClr val="DC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601968"/>
            <a:ext cx="9144000" cy="182880"/>
          </a:xfrm>
          <a:prstGeom prst="rect">
            <a:avLst/>
          </a:prstGeom>
          <a:noFill/>
        </p:spPr>
        <p:txBody>
          <a:bodyPr wrap="square" lIns="18288" tIns="18288" rIns="18288">
            <a:spAutoFit/>
          </a:bodyPr>
          <a:lstStyle/>
          <a:p>
            <a:pPr>
              <a:spcAft>
                <a:spcPts val="1000"/>
              </a:spcAft>
              <a:defRPr sz="900" b="0">
                <a:solidFill>
                  <a:srgbClr val="708097"/>
                </a:solidFill>
                <a:latin typeface="맑은 고딕"/>
              </a:defRPr>
            </a:pPr>
            <a:r>
              <a:t>휴게길  ·  김수종 / 202395007</a:t>
            </a:r>
          </a:p>
        </p:txBody>
      </p:sp>
      <p:sp>
        <p:nvSpPr>
          <p:cNvPr id="6" name="TextBox 5"/>
          <p:cNvSpPr txBox="1"/>
          <p:nvPr/>
        </p:nvSpPr>
        <p:spPr>
          <a:xfrm>
            <a:off x="11064240" y="6565392"/>
            <a:ext cx="54864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08</a:t>
            </a:r>
          </a:p>
        </p:txBody>
      </p:sp>
      <p:sp>
        <p:nvSpPr>
          <p:cNvPr id="7" name="Rounded Rectangle 6"/>
          <p:cNvSpPr/>
          <p:nvPr/>
        </p:nvSpPr>
        <p:spPr>
          <a:xfrm>
            <a:off x="502920" y="1874519"/>
            <a:ext cx="324612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874519"/>
            <a:ext cx="50292" cy="2331720"/>
          </a:xfrm>
          <a:prstGeom prst="roundRect">
            <a:avLst/>
          </a:prstGeom>
          <a:solidFill>
            <a:srgbClr val="47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2057400"/>
            <a:ext cx="2880360" cy="548640"/>
          </a:xfrm>
          <a:prstGeom prst="rect">
            <a:avLst/>
          </a:prstGeom>
          <a:noFill/>
        </p:spPr>
        <p:txBody>
          <a:bodyPr wrap="square" lIns="18288" tIns="18288" rIns="18288">
            <a:spAutoFit/>
          </a:bodyPr>
          <a:lstStyle/>
          <a:p>
            <a:pPr>
              <a:spcAft>
                <a:spcPts val="1000"/>
              </a:spcAft>
              <a:defRPr sz="2100" b="1">
                <a:solidFill>
                  <a:srgbClr val="20304B"/>
                </a:solidFill>
                <a:latin typeface="맑은 고딕"/>
              </a:defRPr>
            </a:pPr>
            <a:r>
              <a:t>React 19 + Vite 7</a:t>
            </a:r>
          </a:p>
        </p:txBody>
      </p:sp>
      <p:sp>
        <p:nvSpPr>
          <p:cNvPr id="10" name="TextBox 9"/>
          <p:cNvSpPr txBox="1"/>
          <p:nvPr/>
        </p:nvSpPr>
        <p:spPr>
          <a:xfrm>
            <a:off x="704088" y="2743200"/>
            <a:ext cx="2834639" cy="1463039"/>
          </a:xfrm>
          <a:prstGeom prst="rect">
            <a:avLst/>
          </a:prstGeom>
          <a:noFill/>
        </p:spPr>
        <p:txBody>
          <a:bodyPr wrap="square" lIns="18288" tIns="18288" rIns="18288">
            <a:spAutoFit/>
          </a:bodyPr>
          <a:lstStyle/>
          <a:p>
            <a:pPr>
              <a:spcAft>
                <a:spcPts val="1000"/>
              </a:spcAft>
              <a:defRPr sz="1700" b="0">
                <a:solidFill>
                  <a:srgbClr val="708097"/>
                </a:solidFill>
                <a:latin typeface="맑은 고딕"/>
              </a:defRPr>
            </a:pPr>
            <a:r>
              <a:t>반응형 UI · 상태 관리</a:t>
            </a:r>
          </a:p>
          <a:p>
            <a:pPr>
              <a:spcAft>
                <a:spcPts val="1000"/>
              </a:spcAft>
              <a:defRPr sz="1700" b="0">
                <a:solidFill>
                  <a:srgbClr val="708097"/>
                </a:solidFill>
                <a:latin typeface="맑은 고딕"/>
              </a:defRPr>
            </a:pPr>
            <a:r>
              <a:t>지도 · 비교 · 로딩 안내</a:t>
            </a:r>
          </a:p>
        </p:txBody>
      </p:sp>
      <p:sp>
        <p:nvSpPr>
          <p:cNvPr id="11" name="TextBox 10"/>
          <p:cNvSpPr txBox="1"/>
          <p:nvPr/>
        </p:nvSpPr>
        <p:spPr>
          <a:xfrm>
            <a:off x="3840480" y="2560320"/>
            <a:ext cx="457200" cy="548640"/>
          </a:xfrm>
          <a:prstGeom prst="rect">
            <a:avLst/>
          </a:prstGeom>
          <a:noFill/>
        </p:spPr>
        <p:txBody>
          <a:bodyPr wrap="square" lIns="18288" tIns="18288" rIns="18288">
            <a:spAutoFit/>
          </a:bodyPr>
          <a:lstStyle/>
          <a:p>
            <a:pPr>
              <a:spcAft>
                <a:spcPts val="1000"/>
              </a:spcAft>
              <a:defRPr sz="3000" b="1">
                <a:solidFill>
                  <a:srgbClr val="47858A"/>
                </a:solidFill>
                <a:latin typeface="맑은 고딕"/>
              </a:defRPr>
            </a:pPr>
            <a:r>
              <a:t>→</a:t>
            </a:r>
          </a:p>
        </p:txBody>
      </p:sp>
      <p:sp>
        <p:nvSpPr>
          <p:cNvPr id="12" name="Rounded Rectangle 11"/>
          <p:cNvSpPr/>
          <p:nvPr/>
        </p:nvSpPr>
        <p:spPr>
          <a:xfrm>
            <a:off x="4434840" y="1874519"/>
            <a:ext cx="324612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434840" y="1874519"/>
            <a:ext cx="50292" cy="2331720"/>
          </a:xfrm>
          <a:prstGeom prst="roundRect">
            <a:avLst/>
          </a:prstGeom>
          <a:solidFill>
            <a:srgbClr val="47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36007" y="2057400"/>
            <a:ext cx="2880360" cy="548640"/>
          </a:xfrm>
          <a:prstGeom prst="rect">
            <a:avLst/>
          </a:prstGeom>
          <a:noFill/>
        </p:spPr>
        <p:txBody>
          <a:bodyPr wrap="square" lIns="18288" tIns="18288" rIns="18288">
            <a:spAutoFit/>
          </a:bodyPr>
          <a:lstStyle/>
          <a:p>
            <a:pPr>
              <a:spcAft>
                <a:spcPts val="1000"/>
              </a:spcAft>
              <a:defRPr sz="2100" b="1">
                <a:solidFill>
                  <a:srgbClr val="20304B"/>
                </a:solidFill>
                <a:latin typeface="맑은 고딕"/>
              </a:defRPr>
            </a:pPr>
            <a:r>
              <a:t>Node.js 서버</a:t>
            </a:r>
          </a:p>
        </p:txBody>
      </p:sp>
      <p:sp>
        <p:nvSpPr>
          <p:cNvPr id="15" name="TextBox 14"/>
          <p:cNvSpPr txBox="1"/>
          <p:nvPr/>
        </p:nvSpPr>
        <p:spPr>
          <a:xfrm>
            <a:off x="4636007" y="2743200"/>
            <a:ext cx="2834639" cy="1463039"/>
          </a:xfrm>
          <a:prstGeom prst="rect">
            <a:avLst/>
          </a:prstGeom>
          <a:noFill/>
        </p:spPr>
        <p:txBody>
          <a:bodyPr wrap="square" lIns="18288" tIns="18288" rIns="18288">
            <a:spAutoFit/>
          </a:bodyPr>
          <a:lstStyle/>
          <a:p>
            <a:pPr>
              <a:spcAft>
                <a:spcPts val="1000"/>
              </a:spcAft>
              <a:defRPr sz="1700" b="0">
                <a:solidFill>
                  <a:srgbClr val="708097"/>
                </a:solidFill>
                <a:latin typeface="맑은 고딕"/>
              </a:defRPr>
            </a:pPr>
            <a:r>
              <a:t>API 중계 · 데이터 정규화</a:t>
            </a:r>
          </a:p>
          <a:p>
            <a:pPr>
              <a:spcAft>
                <a:spcPts val="1000"/>
              </a:spcAft>
              <a:defRPr sz="1700" b="0">
                <a:solidFill>
                  <a:srgbClr val="708097"/>
                </a:solidFill>
                <a:latin typeface="맑은 고딕"/>
              </a:defRPr>
            </a:pPr>
            <a:r>
              <a:t>환경변수 · 좌표 캐시</a:t>
            </a:r>
          </a:p>
        </p:txBody>
      </p:sp>
      <p:sp>
        <p:nvSpPr>
          <p:cNvPr id="16" name="TextBox 15"/>
          <p:cNvSpPr txBox="1"/>
          <p:nvPr/>
        </p:nvSpPr>
        <p:spPr>
          <a:xfrm>
            <a:off x="7772400" y="2560320"/>
            <a:ext cx="457200" cy="548640"/>
          </a:xfrm>
          <a:prstGeom prst="rect">
            <a:avLst/>
          </a:prstGeom>
          <a:noFill/>
        </p:spPr>
        <p:txBody>
          <a:bodyPr wrap="square" lIns="18288" tIns="18288" rIns="18288">
            <a:spAutoFit/>
          </a:bodyPr>
          <a:lstStyle/>
          <a:p>
            <a:pPr>
              <a:spcAft>
                <a:spcPts val="1000"/>
              </a:spcAft>
              <a:defRPr sz="3000" b="1">
                <a:solidFill>
                  <a:srgbClr val="47858A"/>
                </a:solidFill>
                <a:latin typeface="맑은 고딕"/>
              </a:defRPr>
            </a:pPr>
            <a:r>
              <a:t>→</a:t>
            </a:r>
          </a:p>
        </p:txBody>
      </p:sp>
      <p:sp>
        <p:nvSpPr>
          <p:cNvPr id="17" name="Rounded Rectangle 16"/>
          <p:cNvSpPr/>
          <p:nvPr/>
        </p:nvSpPr>
        <p:spPr>
          <a:xfrm>
            <a:off x="8412480" y="1874519"/>
            <a:ext cx="324612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412480" y="1874519"/>
            <a:ext cx="50292" cy="2331720"/>
          </a:xfrm>
          <a:prstGeom prst="roundRect">
            <a:avLst/>
          </a:prstGeom>
          <a:solidFill>
            <a:srgbClr val="47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13648" y="2057400"/>
            <a:ext cx="2880360" cy="548640"/>
          </a:xfrm>
          <a:prstGeom prst="rect">
            <a:avLst/>
          </a:prstGeom>
          <a:noFill/>
        </p:spPr>
        <p:txBody>
          <a:bodyPr wrap="square" lIns="18288" tIns="18288" rIns="18288">
            <a:spAutoFit/>
          </a:bodyPr>
          <a:lstStyle/>
          <a:p>
            <a:pPr>
              <a:spcAft>
                <a:spcPts val="1000"/>
              </a:spcAft>
              <a:defRPr sz="2100" b="1">
                <a:solidFill>
                  <a:srgbClr val="20304B"/>
                </a:solidFill>
                <a:latin typeface="맑은 고딕"/>
              </a:defRPr>
            </a:pPr>
            <a:r>
              <a:t>외부 데이터</a:t>
            </a:r>
          </a:p>
        </p:txBody>
      </p:sp>
      <p:sp>
        <p:nvSpPr>
          <p:cNvPr id="20" name="TextBox 19"/>
          <p:cNvSpPr txBox="1"/>
          <p:nvPr/>
        </p:nvSpPr>
        <p:spPr>
          <a:xfrm>
            <a:off x="8613648" y="2743200"/>
            <a:ext cx="2834639" cy="1463039"/>
          </a:xfrm>
          <a:prstGeom prst="rect">
            <a:avLst/>
          </a:prstGeom>
          <a:noFill/>
        </p:spPr>
        <p:txBody>
          <a:bodyPr wrap="square" lIns="18288" tIns="18288" rIns="18288">
            <a:spAutoFit/>
          </a:bodyPr>
          <a:lstStyle/>
          <a:p>
            <a:pPr>
              <a:spcAft>
                <a:spcPts val="1000"/>
              </a:spcAft>
              <a:defRPr sz="1700" b="0">
                <a:solidFill>
                  <a:srgbClr val="708097"/>
                </a:solidFill>
                <a:latin typeface="맑은 고딕"/>
              </a:defRPr>
            </a:pPr>
            <a:r>
              <a:t>한국도로공사 · 공공데이터</a:t>
            </a:r>
          </a:p>
          <a:p>
            <a:pPr>
              <a:spcAft>
                <a:spcPts val="1000"/>
              </a:spcAft>
              <a:defRPr sz="1700" b="0">
                <a:solidFill>
                  <a:srgbClr val="708097"/>
                </a:solidFill>
                <a:latin typeface="맑은 고딕"/>
              </a:defRPr>
            </a:pPr>
            <a:r>
              <a:t>Kakao Maps / Mobility</a:t>
            </a:r>
          </a:p>
        </p:txBody>
      </p:sp>
      <p:sp>
        <p:nvSpPr>
          <p:cNvPr id="24" name="TextBox 23"/>
          <p:cNvSpPr txBox="1"/>
          <p:nvPr/>
        </p:nvSpPr>
        <p:spPr>
          <a:xfrm>
            <a:off x="640080" y="5943600"/>
            <a:ext cx="10972800" cy="320040"/>
          </a:xfrm>
          <a:prstGeom prst="rect">
            <a:avLst/>
          </a:prstGeom>
          <a:noFill/>
        </p:spPr>
        <p:txBody>
          <a:bodyPr wrap="square" lIns="18288" tIns="18288" rIns="18288">
            <a:spAutoFit/>
          </a:bodyPr>
          <a:lstStyle/>
          <a:p>
            <a:pPr>
              <a:spcAft>
                <a:spcPts val="1000"/>
              </a:spcAft>
              <a:defRPr sz="1200" b="0">
                <a:solidFill>
                  <a:srgbClr val="708097"/>
                </a:solidFill>
                <a:latin typeface="맑은 고딕"/>
              </a:defRPr>
            </a:pPr>
            <a:r>
              <a:t>배포 후 발표용 문구 · 제출 전 공개 URL과 접속 상태 확인</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05840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08 / IMPACT &amp; LIMITS</a:t>
            </a:r>
          </a:p>
        </p:txBody>
      </p:sp>
      <p:sp>
        <p:nvSpPr>
          <p:cNvPr id="3" name="TextBox 2"/>
          <p:cNvSpPr txBox="1"/>
          <p:nvPr/>
        </p:nvSpPr>
        <p:spPr>
          <a:xfrm>
            <a:off x="502920" y="713232"/>
            <a:ext cx="11155680" cy="731520"/>
          </a:xfrm>
          <a:prstGeom prst="rect">
            <a:avLst/>
          </a:prstGeom>
          <a:noFill/>
        </p:spPr>
        <p:txBody>
          <a:bodyPr wrap="square" lIns="18288" tIns="18288" rIns="18288">
            <a:spAutoFit/>
          </a:bodyPr>
          <a:lstStyle/>
          <a:p>
            <a:pPr>
              <a:spcAft>
                <a:spcPts val="1000"/>
              </a:spcAft>
              <a:defRPr sz="2900" b="1">
                <a:solidFill>
                  <a:srgbClr val="20304B"/>
                </a:solidFill>
                <a:latin typeface="맑은 고딕"/>
              </a:defRPr>
            </a:pPr>
            <a:r>
              <a:t>많은 탭보다, 결정에 필요한 정보를 선명하게</a:t>
            </a:r>
          </a:p>
        </p:txBody>
      </p:sp>
      <p:sp>
        <p:nvSpPr>
          <p:cNvPr id="4" name="Rounded Rectangle 3"/>
          <p:cNvSpPr/>
          <p:nvPr/>
        </p:nvSpPr>
        <p:spPr>
          <a:xfrm>
            <a:off x="502920" y="6519672"/>
            <a:ext cx="11155680" cy="10972"/>
          </a:xfrm>
          <a:prstGeom prst="roundRect">
            <a:avLst/>
          </a:prstGeom>
          <a:solidFill>
            <a:srgbClr val="DC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601968"/>
            <a:ext cx="9144000" cy="182880"/>
          </a:xfrm>
          <a:prstGeom prst="rect">
            <a:avLst/>
          </a:prstGeom>
          <a:noFill/>
        </p:spPr>
        <p:txBody>
          <a:bodyPr wrap="square" lIns="18288" tIns="18288" rIns="18288">
            <a:spAutoFit/>
          </a:bodyPr>
          <a:lstStyle/>
          <a:p>
            <a:pPr>
              <a:spcAft>
                <a:spcPts val="1000"/>
              </a:spcAft>
              <a:defRPr sz="900" b="0">
                <a:solidFill>
                  <a:srgbClr val="708097"/>
                </a:solidFill>
                <a:latin typeface="맑은 고딕"/>
              </a:defRPr>
            </a:pPr>
            <a:r>
              <a:t>휴게길  ·  김수종 / 202395007</a:t>
            </a:r>
          </a:p>
        </p:txBody>
      </p:sp>
      <p:sp>
        <p:nvSpPr>
          <p:cNvPr id="6" name="TextBox 5"/>
          <p:cNvSpPr txBox="1"/>
          <p:nvPr/>
        </p:nvSpPr>
        <p:spPr>
          <a:xfrm>
            <a:off x="11064240" y="6565392"/>
            <a:ext cx="548640" cy="274320"/>
          </a:xfrm>
          <a:prstGeom prst="rect">
            <a:avLst/>
          </a:prstGeom>
          <a:noFill/>
        </p:spPr>
        <p:txBody>
          <a:bodyPr wrap="square" lIns="18288" tIns="18288" rIns="18288">
            <a:spAutoFit/>
          </a:bodyPr>
          <a:lstStyle/>
          <a:p>
            <a:pPr>
              <a:spcAft>
                <a:spcPts val="1000"/>
              </a:spcAft>
              <a:defRPr sz="1100" b="1">
                <a:solidFill>
                  <a:srgbClr val="47858A"/>
                </a:solidFill>
                <a:latin typeface="맑은 고딕"/>
              </a:defRPr>
            </a:pPr>
            <a:r>
              <a:t>09</a:t>
            </a:r>
          </a:p>
        </p:txBody>
      </p:sp>
      <p:sp>
        <p:nvSpPr>
          <p:cNvPr id="7" name="Rounded Rectangle 6"/>
          <p:cNvSpPr/>
          <p:nvPr/>
        </p:nvSpPr>
        <p:spPr>
          <a:xfrm>
            <a:off x="502920" y="1783080"/>
            <a:ext cx="539496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783080"/>
            <a:ext cx="50292" cy="1965960"/>
          </a:xfrm>
          <a:prstGeom prst="roundRect">
            <a:avLst/>
          </a:prstGeom>
          <a:solidFill>
            <a:srgbClr val="47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1965960"/>
            <a:ext cx="5029200" cy="548640"/>
          </a:xfrm>
          <a:prstGeom prst="rect">
            <a:avLst/>
          </a:prstGeom>
          <a:noFill/>
        </p:spPr>
        <p:txBody>
          <a:bodyPr wrap="square" lIns="18288" tIns="18288" rIns="18288">
            <a:spAutoFit/>
          </a:bodyPr>
          <a:lstStyle/>
          <a:p>
            <a:pPr>
              <a:spcAft>
                <a:spcPts val="1000"/>
              </a:spcAft>
              <a:defRPr sz="2100" b="1">
                <a:solidFill>
                  <a:srgbClr val="20304B"/>
                </a:solidFill>
                <a:latin typeface="맑은 고딕"/>
              </a:defRPr>
            </a:pPr>
            <a:r>
              <a:t>사용자에게 주는 가치</a:t>
            </a:r>
          </a:p>
        </p:txBody>
      </p:sp>
      <p:sp>
        <p:nvSpPr>
          <p:cNvPr id="10" name="TextBox 9"/>
          <p:cNvSpPr txBox="1"/>
          <p:nvPr/>
        </p:nvSpPr>
        <p:spPr>
          <a:xfrm>
            <a:off x="704088" y="2651760"/>
            <a:ext cx="4983480" cy="1097280"/>
          </a:xfrm>
          <a:prstGeom prst="rect">
            <a:avLst/>
          </a:prstGeom>
          <a:noFill/>
        </p:spPr>
        <p:txBody>
          <a:bodyPr wrap="square" lIns="18288" tIns="18288" rIns="18288">
            <a:spAutoFit/>
          </a:bodyPr>
          <a:lstStyle/>
          <a:p>
            <a:pPr>
              <a:spcAft>
                <a:spcPts val="1000"/>
              </a:spcAft>
              <a:defRPr sz="1700" b="0">
                <a:solidFill>
                  <a:srgbClr val="708097"/>
                </a:solidFill>
                <a:latin typeface="맑은 고딕"/>
              </a:defRPr>
            </a:pPr>
            <a:r>
              <a:t>가는 방향으로 탐색 · 방문 정보 통합</a:t>
            </a:r>
          </a:p>
          <a:p>
            <a:pPr>
              <a:spcAft>
                <a:spcPts val="1000"/>
              </a:spcAft>
              <a:defRPr sz="1700" b="0">
                <a:solidFill>
                  <a:srgbClr val="708097"/>
                </a:solidFill>
                <a:latin typeface="맑은 고딕"/>
              </a:defRPr>
            </a:pPr>
            <a:r>
              <a:t>동일 음식 가격과 주차 규모 비교</a:t>
            </a:r>
          </a:p>
        </p:txBody>
      </p:sp>
      <p:sp>
        <p:nvSpPr>
          <p:cNvPr id="11" name="Rounded Rectangle 10"/>
          <p:cNvSpPr/>
          <p:nvPr/>
        </p:nvSpPr>
        <p:spPr>
          <a:xfrm>
            <a:off x="6126480" y="1783080"/>
            <a:ext cx="553212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126480" y="1783080"/>
            <a:ext cx="50292" cy="1965960"/>
          </a:xfrm>
          <a:prstGeom prst="roundRect">
            <a:avLst/>
          </a:prstGeom>
          <a:solidFill>
            <a:srgbClr val="47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27648" y="1965960"/>
            <a:ext cx="5166359" cy="548640"/>
          </a:xfrm>
          <a:prstGeom prst="rect">
            <a:avLst/>
          </a:prstGeom>
          <a:noFill/>
        </p:spPr>
        <p:txBody>
          <a:bodyPr wrap="square" lIns="18288" tIns="18288" rIns="18288">
            <a:spAutoFit/>
          </a:bodyPr>
          <a:lstStyle/>
          <a:p>
            <a:pPr>
              <a:spcAft>
                <a:spcPts val="1000"/>
              </a:spcAft>
              <a:defRPr sz="2100" b="1">
                <a:solidFill>
                  <a:srgbClr val="20304B"/>
                </a:solidFill>
                <a:latin typeface="맑은 고딕"/>
              </a:defRPr>
            </a:pPr>
            <a:r>
              <a:t>정보의 신뢰성을 위한 장치</a:t>
            </a:r>
          </a:p>
        </p:txBody>
      </p:sp>
      <p:sp>
        <p:nvSpPr>
          <p:cNvPr id="14" name="TextBox 13"/>
          <p:cNvSpPr txBox="1"/>
          <p:nvPr/>
        </p:nvSpPr>
        <p:spPr>
          <a:xfrm>
            <a:off x="6327648" y="2651760"/>
            <a:ext cx="5120640" cy="1097280"/>
          </a:xfrm>
          <a:prstGeom prst="rect">
            <a:avLst/>
          </a:prstGeom>
          <a:noFill/>
        </p:spPr>
        <p:txBody>
          <a:bodyPr wrap="square" lIns="18288" tIns="18288" rIns="18288">
            <a:spAutoFit/>
          </a:bodyPr>
          <a:lstStyle/>
          <a:p>
            <a:pPr>
              <a:spcAft>
                <a:spcPts val="1000"/>
              </a:spcAft>
              <a:defRPr sz="1700" b="0">
                <a:solidFill>
                  <a:srgbClr val="708097"/>
                </a:solidFill>
                <a:latin typeface="맑은 고딕"/>
              </a:defRPr>
            </a:pPr>
            <a:r>
              <a:t>자료 기준일 표시 · 미상과 없음 구분</a:t>
            </a:r>
          </a:p>
          <a:p>
            <a:pPr>
              <a:spcAft>
                <a:spcPts val="1000"/>
              </a:spcAft>
              <a:defRPr sz="1700" b="0">
                <a:solidFill>
                  <a:srgbClr val="708097"/>
                </a:solidFill>
                <a:latin typeface="맑은 고딕"/>
              </a:defRPr>
            </a:pPr>
            <a:r>
              <a:t>로딩 / 오류 / 재시도 상태 안내</a:t>
            </a:r>
          </a:p>
        </p:txBody>
      </p:sp>
      <p:sp>
        <p:nvSpPr>
          <p:cNvPr id="15" name="Rounded Rectangle 14"/>
          <p:cNvSpPr/>
          <p:nvPr/>
        </p:nvSpPr>
        <p:spPr>
          <a:xfrm>
            <a:off x="502920" y="4114800"/>
            <a:ext cx="11155680" cy="1737360"/>
          </a:xfrm>
          <a:prstGeom prst="roundRect">
            <a:avLst/>
          </a:prstGeom>
          <a:solidFill>
            <a:srgbClr val="20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4343400"/>
            <a:ext cx="1828800" cy="411480"/>
          </a:xfrm>
          <a:prstGeom prst="rect">
            <a:avLst/>
          </a:prstGeom>
          <a:noFill/>
        </p:spPr>
        <p:txBody>
          <a:bodyPr wrap="square" lIns="18288" tIns="18288" rIns="18288">
            <a:spAutoFit/>
          </a:bodyPr>
          <a:lstStyle/>
          <a:p>
            <a:pPr>
              <a:spcAft>
                <a:spcPts val="1000"/>
              </a:spcAft>
              <a:defRPr sz="2100" b="1">
                <a:solidFill>
                  <a:srgbClr val="F0BC5E"/>
                </a:solidFill>
                <a:latin typeface="맑은 고딕"/>
              </a:defRPr>
            </a:pPr>
            <a:r>
              <a:t>다음 개선</a:t>
            </a:r>
          </a:p>
        </p:txBody>
      </p:sp>
      <p:sp>
        <p:nvSpPr>
          <p:cNvPr id="17" name="TextBox 16"/>
          <p:cNvSpPr txBox="1"/>
          <p:nvPr/>
        </p:nvSpPr>
        <p:spPr>
          <a:xfrm>
            <a:off x="2834640" y="4343400"/>
            <a:ext cx="8321040" cy="1051560"/>
          </a:xfrm>
          <a:prstGeom prst="rect">
            <a:avLst/>
          </a:prstGeom>
          <a:noFill/>
        </p:spPr>
        <p:txBody>
          <a:bodyPr wrap="square" lIns="18288" tIns="18288" rIns="18288">
            <a:spAutoFit/>
          </a:bodyPr>
          <a:lstStyle/>
          <a:p>
            <a:pPr>
              <a:spcAft>
                <a:spcPts val="1000"/>
              </a:spcAft>
              <a:defRPr sz="2100" b="0">
                <a:solidFill>
                  <a:srgbClr val="FFFFFF"/>
                </a:solidFill>
                <a:latin typeface="맑은 고딕"/>
              </a:defRPr>
            </a:pPr>
            <a:r>
              <a:t>실시간 빈자리 · 실제 영업 상태 연계</a:t>
            </a:r>
          </a:p>
          <a:p>
            <a:pPr>
              <a:spcAft>
                <a:spcPts val="1000"/>
              </a:spcAft>
              <a:defRPr sz="2100" b="0">
                <a:solidFill>
                  <a:srgbClr val="FFFFFF"/>
                </a:solidFill>
                <a:latin typeface="맑은 고딕"/>
              </a:defRPr>
            </a:pPr>
            <a:r>
              <a:t>진입 방향 검증 보강 · 사용자 대상 AI 기능 검토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1225</TotalTime>
  <Words>870</Words>
  <Application>Microsoft Office PowerPoint</Application>
  <PresentationFormat>와이드스크린</PresentationFormat>
  <Paragraphs>117</Paragraphs>
  <Slides>9</Slides>
  <Notes>9</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9</vt:i4>
      </vt:variant>
    </vt:vector>
  </HeadingPairs>
  <TitlesOfParts>
    <vt:vector size="12" baseType="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김수종</cp:lastModifiedBy>
  <cp:revision>1</cp:revision>
  <dcterms:created xsi:type="dcterms:W3CDTF">2013-01-27T09:14:16Z</dcterms:created>
  <dcterms:modified xsi:type="dcterms:W3CDTF">2026-10-29T09:18:37Z</dcterms:modified>
  <cp:category/>
</cp:coreProperties>
</file>